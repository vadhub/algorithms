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8"/>
  </p:notesMasterIdLst>
  <p:sldIdLst>
    <p:sldId id="256" r:id="rId2"/>
    <p:sldId id="294" r:id="rId3"/>
    <p:sldId id="291" r:id="rId4"/>
    <p:sldId id="295" r:id="rId5"/>
    <p:sldId id="297" r:id="rId6"/>
    <p:sldId id="296" r:id="rId7"/>
    <p:sldId id="298" r:id="rId8"/>
    <p:sldId id="299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8" r:id="rId23"/>
    <p:sldId id="313" r:id="rId24"/>
    <p:sldId id="314" r:id="rId25"/>
    <p:sldId id="316" r:id="rId26"/>
    <p:sldId id="315" r:id="rId27"/>
    <p:sldId id="317" r:id="rId28"/>
    <p:sldId id="319" r:id="rId29"/>
    <p:sldId id="320" r:id="rId30"/>
    <p:sldId id="321" r:id="rId31"/>
    <p:sldId id="322" r:id="rId32"/>
    <p:sldId id="323" r:id="rId33"/>
    <p:sldId id="324" r:id="rId34"/>
    <p:sldId id="325" r:id="rId35"/>
    <p:sldId id="326" r:id="rId36"/>
    <p:sldId id="327" r:id="rId37"/>
  </p:sldIdLst>
  <p:sldSz cx="9144000" cy="5143500" type="screen16x9"/>
  <p:notesSz cx="6858000" cy="9144000"/>
  <p:embeddedFontLst>
    <p:embeddedFont>
      <p:font typeface="Roboto" panose="020B0604020202020204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26A4"/>
    <a:srgbClr val="B76B01"/>
    <a:srgbClr val="649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1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flipH="1">
            <a:off x="8246400" y="4245925"/>
            <a:ext cx="897600" cy="897600"/>
          </a:xfrm>
          <a:prstGeom prst="rtTriangl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flipH="1">
            <a:off x="8246400" y="4245875"/>
            <a:ext cx="897600" cy="897600"/>
          </a:xfrm>
          <a:prstGeom prst="round1Rect">
            <a:avLst>
              <a:gd name="adj" fmla="val 16667"/>
            </a:avLst>
          </a:prstGeom>
          <a:solidFill>
            <a:schemeClr val="lt1">
              <a:alpha val="68080"/>
            </a:scheme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460950" y="2065350"/>
            <a:ext cx="8222100" cy="101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4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4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/>
          <p:nvPr/>
        </p:nvSpPr>
        <p:spPr>
          <a:xfrm rot="10800000" flipH="1">
            <a:off x="0" y="1686000"/>
            <a:ext cx="9144000" cy="3457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26;p5"/>
          <p:cNvSpPr/>
          <p:nvPr/>
        </p:nvSpPr>
        <p:spPr>
          <a:xfrm>
            <a:off x="0" y="168600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694250" y="1919075"/>
            <a:ext cx="3999900" cy="271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/>
          <p:nvPr/>
        </p:nvSpPr>
        <p:spPr>
          <a:xfrm rot="10800000" flipH="1">
            <a:off x="0" y="656400"/>
            <a:ext cx="9144000" cy="448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6"/>
          <p:cNvSpPr/>
          <p:nvPr/>
        </p:nvSpPr>
        <p:spPr>
          <a:xfrm>
            <a:off x="0" y="656350"/>
            <a:ext cx="91440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98250" y="16350"/>
            <a:ext cx="8826600" cy="60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/>
        </p:nvSpPr>
        <p:spPr>
          <a:xfrm rot="10800000" flipH="1">
            <a:off x="3276600" y="25"/>
            <a:ext cx="58674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/>
          <p:nvPr/>
        </p:nvSpPr>
        <p:spPr>
          <a:xfrm rot="-5400000">
            <a:off x="759150" y="2517450"/>
            <a:ext cx="51435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226078" y="357800"/>
            <a:ext cx="2808000" cy="95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226075" y="1465800"/>
            <a:ext cx="2808000" cy="316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●"/>
              <a:defRPr sz="1200">
                <a:solidFill>
                  <a:schemeClr val="lt1"/>
                </a:solidFill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○"/>
              <a:defRPr sz="1200">
                <a:solidFill>
                  <a:schemeClr val="lt1"/>
                </a:solidFill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Char char="■"/>
              <a:defRPr sz="1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90250" y="488250"/>
            <a:ext cx="6227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 flipH="1">
            <a:off x="0" y="0"/>
            <a:ext cx="4572000" cy="51435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9"/>
          <p:cNvSpPr/>
          <p:nvPr/>
        </p:nvSpPr>
        <p:spPr>
          <a:xfrm rot="5400000">
            <a:off x="1946425" y="2517750"/>
            <a:ext cx="5142900" cy="1086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None/>
              <a:defRPr sz="42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265500" y="2779467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/>
          <p:nvPr/>
        </p:nvSpPr>
        <p:spPr>
          <a:xfrm rot="10800000" flipH="1">
            <a:off x="0" y="0"/>
            <a:ext cx="9144000" cy="4695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0"/>
          <p:cNvSpPr/>
          <p:nvPr/>
        </p:nvSpPr>
        <p:spPr>
          <a:xfrm rot="10800000" flipH="1">
            <a:off x="0" y="4622725"/>
            <a:ext cx="9144000" cy="74100"/>
          </a:xfrm>
          <a:prstGeom prst="rect">
            <a:avLst/>
          </a:prstGeom>
          <a:gradFill>
            <a:gsLst>
              <a:gs pos="0">
                <a:srgbClr val="F9F9F9"/>
              </a:gs>
              <a:gs pos="36000">
                <a:srgbClr val="F9F9F9"/>
              </a:gs>
              <a:gs pos="80000">
                <a:srgbClr val="DEDEDE"/>
              </a:gs>
              <a:gs pos="100000">
                <a:srgbClr val="999999"/>
              </a:gs>
            </a:gsLst>
            <a:lin ang="16200038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" name="Google Shape;55;p10"/>
          <p:cNvSpPr txBox="1">
            <a:spLocks noGrp="1"/>
          </p:cNvSpPr>
          <p:nvPr>
            <p:ph type="body" idx="1"/>
          </p:nvPr>
        </p:nvSpPr>
        <p:spPr>
          <a:xfrm>
            <a:off x="57150" y="4696825"/>
            <a:ext cx="8382000" cy="44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accent4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 txBox="1">
            <a:spLocks noGrp="1"/>
          </p:cNvSpPr>
          <p:nvPr>
            <p:ph type="title" hasCustomPrompt="1"/>
          </p:nvPr>
        </p:nvSpPr>
        <p:spPr>
          <a:xfrm>
            <a:off x="475500" y="1258525"/>
            <a:ext cx="82221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0"/>
              <a:buNone/>
              <a:defRPr sz="12000">
                <a:solidFill>
                  <a:schemeClr val="dk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9" name="Google Shape;59;p11"/>
          <p:cNvSpPr txBox="1">
            <a:spLocks noGrp="1"/>
          </p:cNvSpPr>
          <p:nvPr>
            <p:ph type="body" idx="1"/>
          </p:nvPr>
        </p:nvSpPr>
        <p:spPr>
          <a:xfrm>
            <a:off x="475500" y="3304625"/>
            <a:ext cx="82221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1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terial"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71900" y="738725"/>
            <a:ext cx="8222100" cy="76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Roboto"/>
              <a:buNone/>
              <a:defRPr sz="32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71900" y="1919075"/>
            <a:ext cx="8222100" cy="271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23541" y="469562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3"/>
          <p:cNvSpPr txBox="1">
            <a:spLocks noGrp="1"/>
          </p:cNvSpPr>
          <p:nvPr>
            <p:ph type="ctrTitle"/>
          </p:nvPr>
        </p:nvSpPr>
        <p:spPr>
          <a:xfrm>
            <a:off x="390525" y="1819275"/>
            <a:ext cx="8222100" cy="93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</a:t>
            </a:r>
            <a:r>
              <a:rPr lang="ru-RU" dirty="0"/>
              <a:t>ассивы. Алгоритмические приемы</a:t>
            </a:r>
            <a:endParaRPr dirty="0"/>
          </a:p>
        </p:txBody>
      </p:sp>
      <p:sp>
        <p:nvSpPr>
          <p:cNvPr id="68" name="Google Shape;68;p13"/>
          <p:cNvSpPr txBox="1">
            <a:spLocks noGrp="1"/>
          </p:cNvSpPr>
          <p:nvPr>
            <p:ph type="subTitle" idx="1"/>
          </p:nvPr>
        </p:nvSpPr>
        <p:spPr>
          <a:xfrm>
            <a:off x="390525" y="2789130"/>
            <a:ext cx="8222100" cy="4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CC1FC-D4F4-47F9-BC30-452189D0A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/>
              <a:t>Актуализация 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311EA7-7DD3-44EC-B774-4E8B09F97C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Какие типы данных существует в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Java?</a:t>
            </a:r>
            <a:endParaRPr lang="ru-RU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Чем структура данных отличается от управляющей конструкции?</a:t>
            </a:r>
          </a:p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Что такое стэк?</a:t>
            </a:r>
          </a:p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Как записать цикл «выведи все четные числа из массива </a:t>
            </a:r>
            <a:r>
              <a:rPr lang="en-US" dirty="0" err="1">
                <a:solidFill>
                  <a:schemeClr val="bg2">
                    <a:lumMod val="50000"/>
                  </a:schemeClr>
                </a:solidFill>
              </a:rPr>
              <a:t>arr</a:t>
            </a: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» на Python? На Pascal? На 1С?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GB" dirty="0">
                <a:solidFill>
                  <a:schemeClr val="bg2">
                    <a:lumMod val="50000"/>
                  </a:schemeClr>
                </a:solidFill>
              </a:rPr>
              <a:t>Java?</a:t>
            </a:r>
            <a:endParaRPr lang="ru-RU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716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CC1FC-D4F4-47F9-BC30-452189D0A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Типы и структуры данных, управляющие конструкции. Различия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311EA7-7DD3-44EC-B774-4E8B09F97C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730154-AC68-47F8-9CA1-DE18A0669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9470" y="1726002"/>
            <a:ext cx="4696003" cy="3204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1723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CC1FC-D4F4-47F9-BC30-452189D0A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1. </a:t>
            </a:r>
            <a:r>
              <a:rPr lang="ru-RU" dirty="0"/>
              <a:t>Для каждого значения укажите подходящий тип в Java: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311EA7-7DD3-44EC-B774-4E8B09F97C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0E7F140-4C9C-4F6A-93F3-2556E9097E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8362424"/>
              </p:ext>
            </p:extLst>
          </p:nvPr>
        </p:nvGraphicFramePr>
        <p:xfrm>
          <a:off x="1448843" y="2179735"/>
          <a:ext cx="6096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183470100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1646687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Тип в </a:t>
                      </a:r>
                      <a:r>
                        <a:rPr lang="en-US" dirty="0"/>
                        <a:t>Java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148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2335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3.14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811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0365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"Привет"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88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'A'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0612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9849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CC1FC-D4F4-47F9-BC30-452189D0A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1. </a:t>
            </a:r>
            <a:r>
              <a:rPr lang="ru-RU" dirty="0"/>
              <a:t>Для каждого значения укажите подходящий тип в Java</a:t>
            </a:r>
            <a:r>
              <a:rPr lang="en-GB" dirty="0"/>
              <a:t> (</a:t>
            </a:r>
            <a:r>
              <a:rPr lang="ru-RU" dirty="0"/>
              <a:t>ответ</a:t>
            </a:r>
            <a:r>
              <a:rPr lang="en-GB" dirty="0"/>
              <a:t>)</a:t>
            </a:r>
            <a:r>
              <a:rPr lang="ru-RU" dirty="0"/>
              <a:t>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311EA7-7DD3-44EC-B774-4E8B09F97C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4" name="Table 5">
            <a:extLst>
              <a:ext uri="{FF2B5EF4-FFF2-40B4-BE49-F238E27FC236}">
                <a16:creationId xmlns:a16="http://schemas.microsoft.com/office/drawing/2014/main" id="{80E7F140-4C9C-4F6A-93F3-2556E9097E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1847831"/>
              </p:ext>
            </p:extLst>
          </p:nvPr>
        </p:nvGraphicFramePr>
        <p:xfrm>
          <a:off x="1448843" y="2179735"/>
          <a:ext cx="60960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1834701001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1646687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Значение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Тип в </a:t>
                      </a:r>
                      <a:r>
                        <a:rPr lang="en-US" dirty="0"/>
                        <a:t>Java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148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int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23355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3.14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double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9811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true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err="1"/>
                        <a:t>boolean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0365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"Привет"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String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98897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'A'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char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20612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16407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CC1FC-D4F4-47F9-BC30-452189D0A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2. Перевод с Python на Java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AED2AFF-8952-434F-9D36-744A280819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574191" y="2188784"/>
            <a:ext cx="2358018" cy="2215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a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n-lt"/>
              </a:rPr>
              <a:t>=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10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endParaRPr kumimoji="0" lang="en-GB" altLang="ru-RU" sz="3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b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n-lt"/>
              </a:rPr>
              <a:t>=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3.14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endParaRPr kumimoji="0" lang="en-GB" altLang="ru-RU" sz="3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c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n-lt"/>
              </a:rPr>
              <a:t>=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True</a:t>
            </a:r>
            <a:endParaRPr kumimoji="0" lang="en-GB" altLang="ru-RU" sz="3600" b="0" i="0" u="none" strike="noStrike" cap="none" normalizeH="0" baseline="0" dirty="0">
              <a:ln>
                <a:noFill/>
              </a:ln>
              <a:solidFill>
                <a:srgbClr val="B76B01"/>
              </a:solidFill>
              <a:effectLst/>
              <a:latin typeface="+mn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n-lt"/>
              </a:rPr>
              <a:t>print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(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a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n-lt"/>
              </a:rPr>
              <a:t>+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b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)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BACCA4-46E0-43C6-AB90-5E42F0DE0E6E}"/>
              </a:ext>
            </a:extLst>
          </p:cNvPr>
          <p:cNvSpPr txBox="1"/>
          <p:nvPr/>
        </p:nvSpPr>
        <p:spPr>
          <a:xfrm>
            <a:off x="1459283" y="1777061"/>
            <a:ext cx="15344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Python: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035466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CC1FC-D4F4-47F9-BC30-452189D0A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2. Перевод с Python на Java (ответ)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AED2AFF-8952-434F-9D36-744A280819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574191" y="2188784"/>
            <a:ext cx="2358018" cy="2215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a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j-lt"/>
              </a:rPr>
              <a:t>=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j-lt"/>
              </a:rPr>
              <a:t>10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endParaRPr kumimoji="0" lang="en-GB" altLang="ru-RU" sz="3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b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j-lt"/>
              </a:rPr>
              <a:t>=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j-lt"/>
              </a:rPr>
              <a:t>3.14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endParaRPr kumimoji="0" lang="en-GB" altLang="ru-RU" sz="36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c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j-lt"/>
              </a:rPr>
              <a:t>=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j-lt"/>
              </a:rPr>
              <a:t>True</a:t>
            </a:r>
            <a:endParaRPr kumimoji="0" lang="en-GB" altLang="ru-RU" sz="3600" b="0" i="0" u="none" strike="noStrike" cap="none" normalizeH="0" baseline="0" dirty="0">
              <a:ln>
                <a:noFill/>
              </a:ln>
              <a:solidFill>
                <a:srgbClr val="B76B01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j-lt"/>
              </a:rPr>
              <a:t>print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(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a 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j-lt"/>
              </a:rPr>
              <a:t>+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b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)</a:t>
            </a:r>
            <a:r>
              <a:rPr kumimoji="0" lang="ru-RU" altLang="ru-RU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BACCA4-46E0-43C6-AB90-5E42F0DE0E6E}"/>
              </a:ext>
            </a:extLst>
          </p:cNvPr>
          <p:cNvSpPr txBox="1"/>
          <p:nvPr/>
        </p:nvSpPr>
        <p:spPr>
          <a:xfrm>
            <a:off x="1459283" y="1777061"/>
            <a:ext cx="15344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Python:</a:t>
            </a:r>
            <a:endParaRPr lang="ru-RU" sz="2400" dirty="0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5021A885-63C6-43E7-B644-BB36816C5F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2209" y="2188784"/>
            <a:ext cx="5281895" cy="2215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ru-RU" sz="3600" dirty="0">
                <a:solidFill>
                  <a:srgbClr val="0F1115"/>
                </a:solidFill>
                <a:latin typeface="+mn-lt"/>
              </a:rPr>
              <a:t>int </a:t>
            </a:r>
            <a:r>
              <a:rPr lang="ru-RU" altLang="ru-RU" sz="3600" dirty="0">
                <a:solidFill>
                  <a:srgbClr val="0F1115"/>
                </a:solidFill>
                <a:latin typeface="+mn-lt"/>
              </a:rPr>
              <a:t>a </a:t>
            </a:r>
            <a:r>
              <a:rPr lang="ru-RU" altLang="ru-RU" sz="3600" dirty="0">
                <a:solidFill>
                  <a:srgbClr val="4078F2"/>
                </a:solidFill>
                <a:latin typeface="+mn-lt"/>
              </a:rPr>
              <a:t>=</a:t>
            </a:r>
            <a:r>
              <a:rPr lang="ru-RU" altLang="ru-RU" sz="3600" dirty="0">
                <a:solidFill>
                  <a:srgbClr val="0F1115"/>
                </a:solidFill>
                <a:latin typeface="+mn-lt"/>
              </a:rPr>
              <a:t> </a:t>
            </a:r>
            <a:r>
              <a:rPr lang="ru-RU" altLang="ru-RU" sz="3600" dirty="0">
                <a:solidFill>
                  <a:srgbClr val="B76B01"/>
                </a:solidFill>
                <a:latin typeface="+mn-lt"/>
              </a:rPr>
              <a:t>10</a:t>
            </a:r>
            <a:r>
              <a:rPr lang="en-US" altLang="ru-RU" sz="3600" dirty="0">
                <a:solidFill>
                  <a:srgbClr val="B76B01"/>
                </a:solidFill>
                <a:latin typeface="+mn-lt"/>
              </a:rPr>
              <a:t>;</a:t>
            </a:r>
            <a:r>
              <a:rPr lang="ru-RU" altLang="ru-RU" sz="3600" dirty="0">
                <a:solidFill>
                  <a:srgbClr val="0F1115"/>
                </a:solidFill>
                <a:latin typeface="+mn-lt"/>
              </a:rPr>
              <a:t> </a:t>
            </a:r>
            <a:endParaRPr lang="en-GB" altLang="ru-RU" sz="3600" dirty="0">
              <a:solidFill>
                <a:srgbClr val="0F1115"/>
              </a:solidFill>
              <a:latin typeface="+mn-lt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ru-RU" sz="3600" dirty="0">
                <a:solidFill>
                  <a:srgbClr val="0F1115"/>
                </a:solidFill>
                <a:latin typeface="+mn-lt"/>
              </a:rPr>
              <a:t>double </a:t>
            </a:r>
            <a:r>
              <a:rPr lang="ru-RU" altLang="ru-RU" sz="3600" dirty="0">
                <a:solidFill>
                  <a:srgbClr val="0F1115"/>
                </a:solidFill>
                <a:latin typeface="+mn-lt"/>
              </a:rPr>
              <a:t>b </a:t>
            </a:r>
            <a:r>
              <a:rPr lang="ru-RU" altLang="ru-RU" sz="3600" dirty="0">
                <a:solidFill>
                  <a:srgbClr val="4078F2"/>
                </a:solidFill>
                <a:latin typeface="+mn-lt"/>
              </a:rPr>
              <a:t>=</a:t>
            </a:r>
            <a:r>
              <a:rPr lang="ru-RU" altLang="ru-RU" sz="3600" dirty="0">
                <a:solidFill>
                  <a:srgbClr val="0F1115"/>
                </a:solidFill>
                <a:latin typeface="+mn-lt"/>
              </a:rPr>
              <a:t> </a:t>
            </a:r>
            <a:r>
              <a:rPr lang="ru-RU" altLang="ru-RU" sz="3600" dirty="0">
                <a:solidFill>
                  <a:srgbClr val="B76B01"/>
                </a:solidFill>
                <a:latin typeface="+mn-lt"/>
              </a:rPr>
              <a:t>3.14</a:t>
            </a:r>
            <a:r>
              <a:rPr lang="en-US" altLang="ru-RU" sz="3600" dirty="0">
                <a:solidFill>
                  <a:srgbClr val="0F1115"/>
                </a:solidFill>
                <a:latin typeface="+mn-lt"/>
              </a:rPr>
              <a:t>;</a:t>
            </a:r>
            <a:endParaRPr lang="en-GB" altLang="ru-RU" sz="3600" dirty="0">
              <a:solidFill>
                <a:srgbClr val="0F1115"/>
              </a:solidFill>
              <a:latin typeface="+mn-lt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ru-RU" sz="3600" dirty="0" err="1">
                <a:solidFill>
                  <a:srgbClr val="0F1115"/>
                </a:solidFill>
                <a:latin typeface="+mn-lt"/>
              </a:rPr>
              <a:t>boolean</a:t>
            </a:r>
            <a:r>
              <a:rPr lang="en-US" altLang="ru-RU" sz="3600" dirty="0">
                <a:solidFill>
                  <a:srgbClr val="0F1115"/>
                </a:solidFill>
                <a:latin typeface="+mn-lt"/>
              </a:rPr>
              <a:t> </a:t>
            </a:r>
            <a:r>
              <a:rPr lang="ru-RU" altLang="ru-RU" sz="3600" dirty="0">
                <a:solidFill>
                  <a:srgbClr val="0F1115"/>
                </a:solidFill>
                <a:latin typeface="+mn-lt"/>
              </a:rPr>
              <a:t>c </a:t>
            </a:r>
            <a:r>
              <a:rPr lang="ru-RU" altLang="ru-RU" sz="3600" dirty="0">
                <a:solidFill>
                  <a:srgbClr val="4078F2"/>
                </a:solidFill>
                <a:latin typeface="+mn-lt"/>
              </a:rPr>
              <a:t>=</a:t>
            </a:r>
            <a:r>
              <a:rPr lang="ru-RU" altLang="ru-RU" sz="3600" dirty="0">
                <a:solidFill>
                  <a:srgbClr val="0F1115"/>
                </a:solidFill>
                <a:latin typeface="+mn-lt"/>
              </a:rPr>
              <a:t> </a:t>
            </a:r>
            <a:r>
              <a:rPr lang="en-US" altLang="ru-RU" sz="3600" dirty="0">
                <a:solidFill>
                  <a:srgbClr val="B76B01"/>
                </a:solidFill>
                <a:latin typeface="+mn-lt"/>
              </a:rPr>
              <a:t>t</a:t>
            </a:r>
            <a:r>
              <a:rPr lang="ru-RU" altLang="ru-RU" sz="3600" dirty="0">
                <a:solidFill>
                  <a:srgbClr val="B76B01"/>
                </a:solidFill>
                <a:latin typeface="+mn-lt"/>
              </a:rPr>
              <a:t>rue</a:t>
            </a:r>
            <a:r>
              <a:rPr lang="en-US" altLang="ru-RU" sz="3600" dirty="0">
                <a:solidFill>
                  <a:srgbClr val="B76B01"/>
                </a:solidFill>
                <a:latin typeface="+mn-lt"/>
              </a:rPr>
              <a:t>;</a:t>
            </a:r>
            <a:endParaRPr lang="en-GB" altLang="ru-RU" sz="3600" dirty="0">
              <a:solidFill>
                <a:srgbClr val="B76B01"/>
              </a:solidFill>
              <a:latin typeface="+mn-lt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ru-RU" sz="3600" dirty="0" err="1">
                <a:solidFill>
                  <a:srgbClr val="A626A4"/>
                </a:solidFill>
                <a:latin typeface="+mn-lt"/>
              </a:rPr>
              <a:t>System.out</a:t>
            </a:r>
            <a:r>
              <a:rPr lang="en-US" altLang="ru-RU" sz="3600" dirty="0">
                <a:solidFill>
                  <a:srgbClr val="A626A4"/>
                </a:solidFill>
                <a:latin typeface="+mn-lt"/>
              </a:rPr>
              <a:t>.</a:t>
            </a:r>
            <a:r>
              <a:rPr lang="ru-RU" altLang="ru-RU" sz="3600" dirty="0">
                <a:solidFill>
                  <a:srgbClr val="A626A4"/>
                </a:solidFill>
                <a:latin typeface="+mn-lt"/>
              </a:rPr>
              <a:t>print</a:t>
            </a:r>
            <a:r>
              <a:rPr lang="en-US" altLang="ru-RU" sz="3600" dirty="0">
                <a:solidFill>
                  <a:srgbClr val="A626A4"/>
                </a:solidFill>
                <a:latin typeface="+mn-lt"/>
              </a:rPr>
              <a:t>ln</a:t>
            </a:r>
            <a:r>
              <a:rPr lang="ru-RU" altLang="ru-RU" sz="3600" dirty="0">
                <a:solidFill>
                  <a:srgbClr val="383A42"/>
                </a:solidFill>
                <a:latin typeface="+mn-lt"/>
              </a:rPr>
              <a:t>(</a:t>
            </a:r>
            <a:r>
              <a:rPr lang="ru-RU" altLang="ru-RU" sz="3600" dirty="0">
                <a:solidFill>
                  <a:srgbClr val="0F1115"/>
                </a:solidFill>
                <a:latin typeface="+mn-lt"/>
              </a:rPr>
              <a:t>a </a:t>
            </a:r>
            <a:r>
              <a:rPr lang="ru-RU" altLang="ru-RU" sz="3600" dirty="0">
                <a:solidFill>
                  <a:srgbClr val="4078F2"/>
                </a:solidFill>
                <a:latin typeface="+mn-lt"/>
              </a:rPr>
              <a:t>+</a:t>
            </a:r>
            <a:r>
              <a:rPr lang="ru-RU" altLang="ru-RU" sz="3600" dirty="0">
                <a:solidFill>
                  <a:srgbClr val="0F1115"/>
                </a:solidFill>
                <a:latin typeface="+mn-lt"/>
              </a:rPr>
              <a:t> b</a:t>
            </a:r>
            <a:r>
              <a:rPr lang="ru-RU" altLang="ru-RU" sz="3600" dirty="0">
                <a:solidFill>
                  <a:srgbClr val="383A42"/>
                </a:solidFill>
                <a:latin typeface="+mn-lt"/>
              </a:rPr>
              <a:t>)</a:t>
            </a:r>
            <a:r>
              <a:rPr lang="en-US" altLang="ru-RU" sz="3600" dirty="0">
                <a:solidFill>
                  <a:srgbClr val="383A42"/>
                </a:solidFill>
                <a:latin typeface="+mn-lt"/>
              </a:rPr>
              <a:t>;</a:t>
            </a:r>
            <a:r>
              <a:rPr lang="ru-RU" altLang="ru-RU" sz="3600" dirty="0">
                <a:solidFill>
                  <a:schemeClr val="tx1"/>
                </a:solidFill>
                <a:latin typeface="+mn-lt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08051C-6B38-45D2-9FF0-698039F1AB6C}"/>
              </a:ext>
            </a:extLst>
          </p:cNvPr>
          <p:cNvSpPr txBox="1"/>
          <p:nvPr/>
        </p:nvSpPr>
        <p:spPr>
          <a:xfrm>
            <a:off x="3932209" y="1777061"/>
            <a:ext cx="15344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Java: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4871784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086A-28FB-43C7-8448-0C4D430E3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3. Перевод с Pascal на Python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0D77307-C712-4B10-B9B7-A33BF0D8E5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693572" y="2098865"/>
            <a:ext cx="2389031" cy="2215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pascal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j-lt"/>
              </a:rPr>
              <a:t>var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x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: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integer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;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endParaRPr kumimoji="0" lang="en-US" altLang="ru-RU" sz="2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j-lt"/>
              </a:rPr>
              <a:t>begin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endParaRPr kumimoji="0" lang="en-US" altLang="ru-RU" sz="2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  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x 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j-lt"/>
              </a:rPr>
              <a:t>:=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j-lt"/>
              </a:rPr>
              <a:t>5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;</a:t>
            </a:r>
            <a:endParaRPr kumimoji="0" lang="en-US" altLang="ru-RU" sz="2400" b="0" i="0" u="none" strike="noStrike" cap="none" normalizeH="0" baseline="0" dirty="0">
              <a:ln>
                <a:noFill/>
              </a:ln>
              <a:solidFill>
                <a:srgbClr val="383A42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r>
              <a:rPr kumimoji="0" lang="en-US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 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writeln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(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x 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j-lt"/>
              </a:rPr>
              <a:t>*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j-lt"/>
              </a:rPr>
              <a:t>2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);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endParaRPr kumimoji="0" lang="en-US" altLang="ru-RU" sz="2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j-lt"/>
              </a:rPr>
              <a:t>end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.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097003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E086A-28FB-43C7-8448-0C4D430E3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3. Перевод с Pascal на Python</a:t>
            </a:r>
            <a:r>
              <a:rPr lang="en-US" dirty="0"/>
              <a:t> (</a:t>
            </a:r>
            <a:r>
              <a:rPr lang="ru-RU" dirty="0"/>
              <a:t>ответ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0D77307-C712-4B10-B9B7-A33BF0D8E5E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443052" y="2011182"/>
            <a:ext cx="2389031" cy="22159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pascal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j-lt"/>
              </a:rPr>
              <a:t>var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x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: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integer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;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endParaRPr kumimoji="0" lang="en-US" altLang="ru-RU" sz="2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j-lt"/>
              </a:rPr>
              <a:t>begin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endParaRPr kumimoji="0" lang="en-US" altLang="ru-RU" sz="2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  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x 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j-lt"/>
              </a:rPr>
              <a:t>:=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j-lt"/>
              </a:rPr>
              <a:t>5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;</a:t>
            </a:r>
            <a:endParaRPr kumimoji="0" lang="en-US" altLang="ru-RU" sz="2400" b="0" i="0" u="none" strike="noStrike" cap="none" normalizeH="0" baseline="0" dirty="0">
              <a:ln>
                <a:noFill/>
              </a:ln>
              <a:solidFill>
                <a:srgbClr val="383A42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r>
              <a:rPr kumimoji="0" lang="en-US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 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writeln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(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x 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j-lt"/>
              </a:rPr>
              <a:t>*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j-lt"/>
              </a:rPr>
              <a:t>2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);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j-lt"/>
              </a:rPr>
              <a:t> </a:t>
            </a:r>
            <a:endParaRPr kumimoji="0" lang="en-US" altLang="ru-RU" sz="24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+mj-lt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j-lt"/>
              </a:rPr>
              <a:t>end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j-lt"/>
              </a:rPr>
              <a:t>.</a:t>
            </a:r>
            <a:r>
              <a:rPr kumimoji="0" lang="ru-RU" altLang="ru-RU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j-lt"/>
              </a:rPr>
              <a:t> 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6A3D40D-5181-4CD3-80E3-60DD5F6E9F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94812" y="2011181"/>
            <a:ext cx="2389031" cy="11079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spcFirstLastPara="1"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Roboto"/>
              <a:buChar char="●"/>
              <a:defRPr sz="18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●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○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Roboto"/>
              <a:buChar char="■"/>
              <a:defRPr sz="1400" b="0" i="0" u="none" strike="noStrike" cap="none" spc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ru-RU" sz="2400" dirty="0">
                <a:solidFill>
                  <a:srgbClr val="0F1115"/>
                </a:solidFill>
                <a:latin typeface="+mj-lt"/>
              </a:rPr>
              <a:t>python</a:t>
            </a:r>
            <a:endParaRPr lang="ru-RU" altLang="ru-RU" sz="2400" dirty="0">
              <a:solidFill>
                <a:srgbClr val="0F1115"/>
              </a:solidFill>
              <a:latin typeface="+mj-lt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ru-RU" altLang="ru-RU" sz="2400" dirty="0">
                <a:solidFill>
                  <a:srgbClr val="0F1115"/>
                </a:solidFill>
                <a:latin typeface="+mj-lt"/>
              </a:rPr>
              <a:t>x </a:t>
            </a:r>
            <a:r>
              <a:rPr lang="ru-RU" altLang="ru-RU" sz="2400" dirty="0">
                <a:solidFill>
                  <a:srgbClr val="4078F2"/>
                </a:solidFill>
                <a:latin typeface="+mj-lt"/>
              </a:rPr>
              <a:t>=</a:t>
            </a:r>
            <a:r>
              <a:rPr lang="ru-RU" altLang="ru-RU" sz="2400" dirty="0">
                <a:solidFill>
                  <a:srgbClr val="0F1115"/>
                </a:solidFill>
                <a:latin typeface="+mj-lt"/>
              </a:rPr>
              <a:t> </a:t>
            </a:r>
            <a:r>
              <a:rPr lang="ru-RU" altLang="ru-RU" sz="2400" dirty="0">
                <a:solidFill>
                  <a:srgbClr val="B76B01"/>
                </a:solidFill>
                <a:latin typeface="+mj-lt"/>
              </a:rPr>
              <a:t>5</a:t>
            </a:r>
            <a:endParaRPr lang="en-US" altLang="ru-RU" sz="2400" dirty="0">
              <a:solidFill>
                <a:srgbClr val="383A42"/>
              </a:solidFill>
              <a:latin typeface="+mj-lt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lang="en-US" altLang="ru-RU" sz="2400" dirty="0">
                <a:solidFill>
                  <a:srgbClr val="0F1115"/>
                </a:solidFill>
                <a:latin typeface="+mj-lt"/>
              </a:rPr>
              <a:t>p</a:t>
            </a:r>
            <a:r>
              <a:rPr lang="ru-RU" altLang="ru-RU" sz="2400" dirty="0">
                <a:solidFill>
                  <a:srgbClr val="0F1115"/>
                </a:solidFill>
                <a:latin typeface="+mj-lt"/>
              </a:rPr>
              <a:t>ri</a:t>
            </a:r>
            <a:r>
              <a:rPr lang="en-US" altLang="ru-RU" sz="2400" dirty="0">
                <a:solidFill>
                  <a:srgbClr val="0F1115"/>
                </a:solidFill>
                <a:latin typeface="+mj-lt"/>
              </a:rPr>
              <a:t>n</a:t>
            </a:r>
            <a:r>
              <a:rPr lang="ru-RU" altLang="ru-RU" sz="2400" dirty="0">
                <a:solidFill>
                  <a:srgbClr val="0F1115"/>
                </a:solidFill>
                <a:latin typeface="+mj-lt"/>
              </a:rPr>
              <a:t>t</a:t>
            </a:r>
            <a:r>
              <a:rPr lang="ru-RU" altLang="ru-RU" sz="2400" dirty="0">
                <a:solidFill>
                  <a:srgbClr val="383A42"/>
                </a:solidFill>
                <a:latin typeface="+mj-lt"/>
              </a:rPr>
              <a:t>(</a:t>
            </a:r>
            <a:r>
              <a:rPr lang="ru-RU" altLang="ru-RU" sz="2400" dirty="0">
                <a:solidFill>
                  <a:srgbClr val="0F1115"/>
                </a:solidFill>
                <a:latin typeface="+mj-lt"/>
              </a:rPr>
              <a:t>x </a:t>
            </a:r>
            <a:r>
              <a:rPr lang="ru-RU" altLang="ru-RU" sz="2400" dirty="0">
                <a:solidFill>
                  <a:srgbClr val="4078F2"/>
                </a:solidFill>
                <a:latin typeface="+mj-lt"/>
              </a:rPr>
              <a:t>*</a:t>
            </a:r>
            <a:r>
              <a:rPr lang="ru-RU" altLang="ru-RU" sz="2400" dirty="0">
                <a:solidFill>
                  <a:srgbClr val="0F1115"/>
                </a:solidFill>
                <a:latin typeface="+mj-lt"/>
              </a:rPr>
              <a:t> </a:t>
            </a:r>
            <a:r>
              <a:rPr lang="ru-RU" altLang="ru-RU" sz="2400" dirty="0">
                <a:solidFill>
                  <a:srgbClr val="B76B01"/>
                </a:solidFill>
                <a:latin typeface="+mj-lt"/>
              </a:rPr>
              <a:t>2</a:t>
            </a:r>
            <a:r>
              <a:rPr lang="ru-RU" altLang="ru-RU" sz="2400" dirty="0">
                <a:solidFill>
                  <a:srgbClr val="383A42"/>
                </a:solidFill>
                <a:latin typeface="+mj-lt"/>
              </a:rPr>
              <a:t>)</a:t>
            </a:r>
            <a:endParaRPr lang="en-US" altLang="ru-RU" sz="2400" dirty="0">
              <a:solidFill>
                <a:srgbClr val="0F1115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269705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4EA39D-7F64-44A8-9269-9618FA807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4. Какой тип в Java подходит для дробного числа?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EC1D8-405F-4F5A-BC76-EA232C9C3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+mn-lt"/>
              </a:rPr>
              <a:t>a) int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+mn-lt"/>
              </a:rPr>
              <a:t>b) double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+mn-lt"/>
              </a:rPr>
              <a:t>c) </a:t>
            </a:r>
            <a:r>
              <a:rPr lang="en-US" b="0" i="0" dirty="0" err="1">
                <a:solidFill>
                  <a:srgbClr val="0F1115"/>
                </a:solidFill>
                <a:effectLst/>
                <a:latin typeface="+mn-lt"/>
              </a:rPr>
              <a:t>boolean</a:t>
            </a:r>
            <a:endParaRPr lang="en-US" b="0" i="0" dirty="0">
              <a:solidFill>
                <a:srgbClr val="0F1115"/>
              </a:solidFill>
              <a:effectLst/>
              <a:latin typeface="+mn-lt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0F1115"/>
                </a:solidFill>
                <a:effectLst/>
                <a:latin typeface="+mn-lt"/>
              </a:rPr>
              <a:t>d) String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4524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D1A2F-38BF-461A-8A75-8D1186F20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5. В Python тип для True/False — это: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F86E78-385E-4E88-BEDE-3CF0843781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  <a:latin typeface="+mn-lt"/>
              </a:rPr>
              <a:t>a) int</a:t>
            </a:r>
          </a:p>
          <a:p>
            <a:r>
              <a:rPr lang="en-US" dirty="0">
                <a:solidFill>
                  <a:schemeClr val="bg2"/>
                </a:solidFill>
                <a:latin typeface="+mn-lt"/>
              </a:rPr>
              <a:t>b) bool</a:t>
            </a:r>
          </a:p>
          <a:p>
            <a:r>
              <a:rPr lang="en-US" dirty="0">
                <a:solidFill>
                  <a:schemeClr val="bg2"/>
                </a:solidFill>
                <a:latin typeface="+mn-lt"/>
              </a:rPr>
              <a:t>c) </a:t>
            </a:r>
            <a:r>
              <a:rPr lang="en-US" dirty="0" err="1">
                <a:solidFill>
                  <a:schemeClr val="bg2"/>
                </a:solidFill>
                <a:latin typeface="+mn-lt"/>
              </a:rPr>
              <a:t>boolean</a:t>
            </a:r>
            <a:endParaRPr lang="en-US" dirty="0">
              <a:solidFill>
                <a:schemeClr val="bg2"/>
              </a:solidFill>
              <a:latin typeface="+mn-lt"/>
            </a:endParaRPr>
          </a:p>
          <a:p>
            <a:r>
              <a:rPr lang="en-US" dirty="0">
                <a:solidFill>
                  <a:schemeClr val="bg2"/>
                </a:solidFill>
                <a:latin typeface="+mn-lt"/>
              </a:rPr>
              <a:t>d) logical</a:t>
            </a:r>
            <a:endParaRPr lang="ru-RU" dirty="0">
              <a:solidFill>
                <a:schemeClr val="bg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920786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0AF79-9DF2-47C6-A694-523E573D1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6. В 1С нет разделения на целые и дробные. Как называется общий тип?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591AFA-7430-4D75-95E5-30D76884B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a) </a:t>
            </a:r>
            <a:r>
              <a:rPr lang="ru-RU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Число</a:t>
            </a:r>
          </a:p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b) int</a:t>
            </a:r>
          </a:p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c) float</a:t>
            </a:r>
          </a:p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d) double</a:t>
            </a:r>
            <a:endParaRPr lang="ru-RU" dirty="0">
              <a:solidFill>
                <a:schemeClr val="bg2">
                  <a:lumMod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982294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C6DCD-E24F-4ABF-A78F-76DC1ABBD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7. Какой тип в Java используется для строки?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123D53-B8F7-4EF3-99D4-079225A9C2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a) string</a:t>
            </a:r>
          </a:p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b) String</a:t>
            </a:r>
          </a:p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c) str</a:t>
            </a:r>
          </a:p>
          <a:p>
            <a:r>
              <a:rPr lang="en-US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d) char[]</a:t>
            </a:r>
            <a:endParaRPr lang="ru-RU" dirty="0">
              <a:solidFill>
                <a:schemeClr val="bg2">
                  <a:lumMod val="50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439098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C8B10-358B-4EC8-9E1D-2657D0A96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8. Что означает статическая типизация?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C8A2C7-032C-4CFD-8007-84B4FF189F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a) тип определяется при запуске</a:t>
            </a:r>
          </a:p>
          <a:p>
            <a:r>
              <a:rPr lang="ru-RU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b) тип известен при объявлении</a:t>
            </a:r>
          </a:p>
          <a:p>
            <a:r>
              <a:rPr lang="ru-RU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c) тип не важен</a:t>
            </a:r>
          </a:p>
          <a:p>
            <a:r>
              <a:rPr lang="ru-RU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d) тип меняется автоматически</a:t>
            </a:r>
          </a:p>
        </p:txBody>
      </p:sp>
    </p:spTree>
    <p:extLst>
      <p:ext uri="{BB962C8B-B14F-4D97-AF65-F5344CB8AC3E}">
        <p14:creationId xmlns:p14="http://schemas.microsoft.com/office/powerpoint/2010/main" val="1724648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06C6B-CA1B-4EAD-B6F3-E54A7CECE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9. Сопоставьте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FEAAF6-148C-4B71-B001-02CA9F7C7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D4CD8F92-875F-4908-B92E-F7F264D0B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9387912"/>
              </p:ext>
            </p:extLst>
          </p:nvPr>
        </p:nvGraphicFramePr>
        <p:xfrm>
          <a:off x="1480159" y="2237027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356365167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452622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Принцип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1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Стек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1. Ключ → 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169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Очередь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 LIFO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467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Дек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 FIFO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529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Словарь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4. Два конца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436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45958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06C6B-CA1B-4EAD-B6F3-E54A7CECE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9. Сопоставьте (ответ)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FEAAF6-148C-4B71-B001-02CA9F7C78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D4CD8F92-875F-4908-B92E-F7F264D0B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6386594"/>
              </p:ext>
            </p:extLst>
          </p:nvPr>
        </p:nvGraphicFramePr>
        <p:xfrm>
          <a:off x="1480159" y="2237027"/>
          <a:ext cx="609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356365167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3452622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Структура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Принцип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160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Стек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dirty="0"/>
                        <a:t>2. LIFO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6169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Очередь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 FIFO</a:t>
                      </a:r>
                      <a:r>
                        <a:rPr lang="ru-RU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4671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Дек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4. Два конца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0529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Словарь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/>
                        <a:t>1. Ключ → значение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04368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22895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51B8D-0BE2-4146-9A30-E6D0ACEE1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10. Перевод с Pascal на Java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B68902-E393-443A-AC1B-BB66912D638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04465" y="1951812"/>
            <a:ext cx="2883803" cy="2769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pascal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n-lt"/>
              </a:rPr>
              <a:t>var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arr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: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n-lt"/>
              </a:rPr>
              <a:t>array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[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1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n-lt"/>
              </a:rPr>
              <a:t>..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3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]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n-lt"/>
              </a:rPr>
              <a:t>of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integer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n-lt"/>
              </a:rPr>
              <a:t>begin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    arr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[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1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]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n-lt"/>
              </a:rPr>
              <a:t>:=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10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000" dirty="0">
                <a:solidFill>
                  <a:srgbClr val="383A42"/>
                </a:solidFill>
                <a:latin typeface="+mn-lt"/>
              </a:rPr>
              <a:t>   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arr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[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2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]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n-lt"/>
              </a:rPr>
              <a:t>:=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20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000" dirty="0">
                <a:solidFill>
                  <a:srgbClr val="383A42"/>
                </a:solidFill>
                <a:latin typeface="+mn-lt"/>
              </a:rPr>
              <a:t>   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arr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[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3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]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n-lt"/>
              </a:rPr>
              <a:t>:=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30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ru-RU" altLang="ru-RU" sz="2000" dirty="0">
                <a:solidFill>
                  <a:srgbClr val="383A42"/>
                </a:solidFill>
                <a:latin typeface="+mn-lt"/>
              </a:rPr>
              <a:t>   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writeln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(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arr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[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1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]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4078F2"/>
                </a:solidFill>
                <a:effectLst/>
                <a:latin typeface="+mn-lt"/>
              </a:rPr>
              <a:t>+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+mn-lt"/>
              </a:rPr>
              <a:t> arr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[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B76B01"/>
                </a:solidFill>
                <a:effectLst/>
                <a:latin typeface="+mn-lt"/>
              </a:rPr>
              <a:t>2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]);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A626A4"/>
                </a:solidFill>
                <a:effectLst/>
                <a:latin typeface="+mn-lt"/>
              </a:rPr>
              <a:t>end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rgbClr val="383A42"/>
                </a:solidFill>
                <a:effectLst/>
                <a:latin typeface="+mn-lt"/>
              </a:rPr>
              <a:t>.</a:t>
            </a:r>
            <a:r>
              <a:rPr kumimoji="0" lang="ru-RU" altLang="ru-RU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+mn-lt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6620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AFDD3-9416-4F1E-AF7A-14344B77B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Обновление массива на месте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66444D-AF84-4C41-8F4C-53E9CBDDD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1861DB9-3498-4268-A3C9-E43381AAB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900" y="1828800"/>
            <a:ext cx="4738382" cy="20770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BCDF59-5239-4852-A9EE-317DAE99F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793" y="4228274"/>
            <a:ext cx="3267531" cy="8287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D1A1AE-AC56-4BCF-8BAD-118E1CC7732A}"/>
              </a:ext>
            </a:extLst>
          </p:cNvPr>
          <p:cNvSpPr txBox="1"/>
          <p:nvPr/>
        </p:nvSpPr>
        <p:spPr>
          <a:xfrm>
            <a:off x="471900" y="4002066"/>
            <a:ext cx="127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Вывод:</a:t>
            </a:r>
          </a:p>
        </p:txBody>
      </p:sp>
    </p:spTree>
    <p:extLst>
      <p:ext uri="{BB962C8B-B14F-4D97-AF65-F5344CB8AC3E}">
        <p14:creationId xmlns:p14="http://schemas.microsoft.com/office/powerpoint/2010/main" val="37690949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4D24A-E474-4D51-8036-5305CF02F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4427" y="361264"/>
            <a:ext cx="8222100" cy="767700"/>
          </a:xfrm>
        </p:spPr>
        <p:txBody>
          <a:bodyPr/>
          <a:lstStyle/>
          <a:p>
            <a:r>
              <a:rPr lang="ru-RU" dirty="0"/>
              <a:t>Пример. Сортировка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374CC8-73A2-4836-8D9E-BB5E7258A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073CAC-3C5E-4309-AEC9-3B0D5C7602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473" y="1066334"/>
            <a:ext cx="3959283" cy="377115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F9A67F-82E9-4101-BF87-9B913853157A}"/>
              </a:ext>
            </a:extLst>
          </p:cNvPr>
          <p:cNvSpPr txBox="1"/>
          <p:nvPr/>
        </p:nvSpPr>
        <p:spPr>
          <a:xfrm>
            <a:off x="4572000" y="2029217"/>
            <a:ext cx="127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Вывод: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BADE98-F310-433C-AE65-C56F251A9D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5477" y="2373354"/>
            <a:ext cx="3248478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248457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34E93-807A-48FD-A12C-37FCC4CBF2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Пример. Задача 5: Переместить нули в конец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F95684-AE28-46B8-A06D-8B784F6776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Держим указатель insertPos — позицию, куда должен встать следующий ненулевой элемент. В цикле идём по массиву указателем i. Как только видим ненулевой элемент — меняем его местами с nums[insertPos] и сдвигаем insertPos вправо.</a:t>
            </a:r>
          </a:p>
          <a:p>
            <a:endParaRPr lang="ru-RU" dirty="0">
              <a:solidFill>
                <a:schemeClr val="bg2">
                  <a:lumMod val="50000"/>
                </a:schemeClr>
              </a:solidFill>
              <a:latin typeface="+mn-lt"/>
            </a:endParaRPr>
          </a:p>
          <a:p>
            <a:r>
              <a:rPr lang="ru-RU" dirty="0">
                <a:solidFill>
                  <a:schemeClr val="bg2">
                    <a:lumMod val="50000"/>
                  </a:schemeClr>
                </a:solidFill>
                <a:latin typeface="+mn-lt"/>
              </a:rPr>
              <a:t>Всё, что оказалось слева от insertPos, — уже ненулевые в правильном порядке. Всё, что справа, постепенно заполняется нулями.</a:t>
            </a:r>
          </a:p>
        </p:txBody>
      </p:sp>
    </p:spTree>
    <p:extLst>
      <p:ext uri="{BB962C8B-B14F-4D97-AF65-F5344CB8AC3E}">
        <p14:creationId xmlns:p14="http://schemas.microsoft.com/office/powerpoint/2010/main" val="26301808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51B9C-C611-434D-9CDC-C1801DF12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Два указателя – левый и правый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54F7E5-60D8-4180-854A-0F7D577B5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Удобно использовать в задаче на проверку палиндрома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306903D-6E35-4359-8D0F-AE247AC285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860" y="2325032"/>
            <a:ext cx="5232273" cy="26240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AADE009-B1DF-40CF-A38C-36837E48C904}"/>
              </a:ext>
            </a:extLst>
          </p:cNvPr>
          <p:cNvSpPr txBox="1"/>
          <p:nvPr/>
        </p:nvSpPr>
        <p:spPr>
          <a:xfrm>
            <a:off x="5801105" y="2615591"/>
            <a:ext cx="12754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Вывод: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27924C5-26CD-4FAC-A89B-73C9E7388A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4062" y="2879527"/>
            <a:ext cx="3210373" cy="1590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4237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BE986-8862-4DBB-B6E0-F8A4FC3EA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Циклический сдвиг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442BC1-09DC-4ABA-9F14-7C59F2F4F8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61 минут % 60 минут в часх = 1 час 1 минута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245CC9-A655-42B7-8EB9-78D01A843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2437" y="2331725"/>
            <a:ext cx="2710200" cy="271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9645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58AB-B662-43BB-8287-ED557B977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Циклический сдвиг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6822BC-94B1-46A7-815A-88AC67FB85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n – </a:t>
            </a: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сдвиг</a:t>
            </a:r>
          </a:p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last – </a:t>
            </a: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взять </a:t>
            </a:r>
          </a:p>
          <a:p>
            <a:pPr marL="114300" indent="0">
              <a:buNone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последный </a:t>
            </a:r>
          </a:p>
          <a:p>
            <a:pPr marL="114300" indent="0">
              <a:buNone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элемент</a:t>
            </a:r>
          </a:p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Нужно идти </a:t>
            </a:r>
          </a:p>
          <a:p>
            <a:pPr marL="114300" indent="0">
              <a:buNone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с конца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6FC450-577E-4E89-A2CF-56EA57D31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3578" y="1680881"/>
            <a:ext cx="5700176" cy="3286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61421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A8182-CC7E-4237-AB2A-4B3DFDB55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Шифр Цезаря и таблица </a:t>
            </a:r>
            <a:r>
              <a:rPr lang="en-US" dirty="0"/>
              <a:t>ASCII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AF5865-EF22-46DD-9D17-5766E0BE5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Можно использовать факт того, что буквы закодированы в таблице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ASCII (Unicode) </a:t>
            </a: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и имеют свой код, причем буквы идут в алфавитном порядке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.</a:t>
            </a:r>
          </a:p>
          <a:p>
            <a:pPr marL="114300" indent="0">
              <a:buNone/>
            </a:pPr>
            <a:r>
              <a:rPr lang="en-US" dirty="0"/>
              <a:t> </a:t>
            </a:r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08CF8E-C903-4C06-A190-8EA85EA0A0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120" y="3011827"/>
            <a:ext cx="4147244" cy="106390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F76CACA-42A2-4050-8831-8B96D10873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6147" y="2934985"/>
            <a:ext cx="645895" cy="96251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D7847CA-7AC0-45D9-A3A5-42FD45DB8BC5}"/>
              </a:ext>
            </a:extLst>
          </p:cNvPr>
          <p:cNvSpPr txBox="1"/>
          <p:nvPr/>
        </p:nvSpPr>
        <p:spPr>
          <a:xfrm>
            <a:off x="5110620" y="2857938"/>
            <a:ext cx="183506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Вывод:</a:t>
            </a:r>
          </a:p>
        </p:txBody>
      </p:sp>
    </p:spTree>
    <p:extLst>
      <p:ext uri="{BB962C8B-B14F-4D97-AF65-F5344CB8AC3E}">
        <p14:creationId xmlns:p14="http://schemas.microsoft.com/office/powerpoint/2010/main" val="42452167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A8182-CC7E-4237-AB2A-4B3DFDB55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39" y="0"/>
            <a:ext cx="8222100" cy="767700"/>
          </a:xfrm>
        </p:spPr>
        <p:txBody>
          <a:bodyPr/>
          <a:lstStyle/>
          <a:p>
            <a:r>
              <a:rPr lang="ru-RU" dirty="0"/>
              <a:t>Шифр Цезаря и таблица </a:t>
            </a:r>
            <a:r>
              <a:rPr lang="en-US" dirty="0"/>
              <a:t>ASCII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AF5865-EF22-46DD-9D17-5766E0BE5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en-US" dirty="0"/>
              <a:t> </a:t>
            </a:r>
            <a:endParaRPr lang="ru-RU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BBE4FC9-CAF1-4FB1-9B10-195B5262A0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763" y="767700"/>
            <a:ext cx="5761452" cy="4321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71451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A8182-CC7E-4237-AB2A-4B3DFDB55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Шифр Цезаря и таблица </a:t>
            </a:r>
            <a:r>
              <a:rPr lang="en-US" dirty="0"/>
              <a:t>ASCII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AF5865-EF22-46DD-9D17-5766E0BE54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Чтобы вывести весь алфавит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Вывод в 5 столбцов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C116157-FBC0-41B5-90BF-9E63F96A42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41" y="2312508"/>
            <a:ext cx="4058216" cy="8287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9F2AB9-B022-43F5-BD98-33E5A4FFB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4463" y="3583379"/>
            <a:ext cx="3667637" cy="14098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DE230C5-759F-4780-9758-2F36A667D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41" y="3534731"/>
            <a:ext cx="4122000" cy="150719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BA96B39-0BFF-4302-A8D2-21592E1CDB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0898" y="1696149"/>
            <a:ext cx="828791" cy="183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4749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6B1CD-D96C-46B1-BD90-E8B9283CD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Шифр Цезаря. Вариант 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C3C29-0D12-4A16-BCE2-3A9138689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Нормализовать сдвиг (т.к. он может быть отрицательным)</a:t>
            </a:r>
          </a:p>
          <a:p>
            <a:pPr>
              <a:buFont typeface="+mj-lt"/>
              <a:buAutoNum type="arabicPeriod"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В цикле взять текущий индекс элемента из таблицы (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text[</a:t>
            </a:r>
            <a:r>
              <a:rPr lang="en-US" dirty="0" err="1">
                <a:solidFill>
                  <a:schemeClr val="bg2">
                    <a:lumMod val="50000"/>
                  </a:schemeClr>
                </a:solidFill>
              </a:rPr>
              <a:t>i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] – ‘a’</a:t>
            </a: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)</a:t>
            </a: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buFont typeface="+mj-lt"/>
              <a:buAutoNum type="arabicPeriod"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В цикле прибавить к текущему индексу норм. сдвиг </a:t>
            </a:r>
          </a:p>
          <a:p>
            <a:pPr>
              <a:buFont typeface="+mj-lt"/>
              <a:buAutoNum type="arabicPeriod"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Взять остаток на длину алфавита и прибавить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‘a’</a:t>
            </a: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 – преобразуем в код из таблицы</a:t>
            </a:r>
          </a:p>
          <a:p>
            <a:pPr>
              <a:buFont typeface="+mj-lt"/>
              <a:buAutoNum type="arabicPeriod"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718865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6B1CD-D96C-46B1-BD90-E8B9283CD1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 Шифр Цезаря. Вариант 2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AC3C29-0D12-4A16-BCE2-3A91386895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Создать массив с алфавитом</a:t>
            </a:r>
          </a:p>
          <a:p>
            <a:pPr>
              <a:buFont typeface="+mj-lt"/>
              <a:buAutoNum type="arabicPeriod"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Нормализовать сдвиг (т.к. он может быть отрицательным)</a:t>
            </a:r>
          </a:p>
          <a:p>
            <a:pPr>
              <a:buFont typeface="+mj-lt"/>
              <a:buAutoNum type="arabicPeriod"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Создать внешний цикл на количество сдвигов</a:t>
            </a:r>
          </a:p>
          <a:p>
            <a:pPr>
              <a:buFont typeface="+mj-lt"/>
              <a:buAutoNum type="arabicPeriod"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В внутреннем цикле: если встретилась буква алфавита - прибавить к текущему индексу норм. сдвиг и взять остаток на длину алфавита </a:t>
            </a:r>
          </a:p>
          <a:p>
            <a:pPr>
              <a:buFont typeface="+mj-lt"/>
              <a:buAutoNum type="arabicPeriod"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Выйти из внутреннего цикла</a:t>
            </a:r>
          </a:p>
          <a:p>
            <a:pPr>
              <a:buFont typeface="+mj-lt"/>
              <a:buAutoNum type="arabicPeriod"/>
            </a:pPr>
            <a:endParaRPr lang="ru-RU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03014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50DA2-46F2-450F-8496-9A1F53210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Матрицы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A95BDA-4798-46DB-9B47-4CA239F338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899" y="1919075"/>
            <a:ext cx="2315141" cy="2710200"/>
          </a:xfrm>
        </p:spPr>
        <p:txBody>
          <a:bodyPr/>
          <a:lstStyle/>
          <a:p>
            <a:r>
              <a:rPr lang="ru-RU" dirty="0"/>
              <a:t>(</a:t>
            </a: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0,1) – индексы</a:t>
            </a:r>
          </a:p>
          <a:p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097C71-F5EE-48EA-8916-7A7C8EC16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7040" y="1711462"/>
            <a:ext cx="4516789" cy="31254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27CE9C-F763-4FC5-9321-3DBE4A204C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39" y="2732614"/>
            <a:ext cx="2213129" cy="1241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225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C5F92-ABC7-4ADB-820F-2DAFE82C0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Транспонирование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F388EC-CB82-41F3-A63C-747C68A6C7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Столбцы становятся строками, строки столбцами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E125D6-C7B0-49CA-99DD-9427807B7E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725" y="2421759"/>
            <a:ext cx="7435773" cy="250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7691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8FBE03-ED05-454E-8CB4-6481580F9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Транспонирование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03EC50-C604-42FB-AF74-8094862139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2DB621-EE39-4134-952C-5A9026FC28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00" y="1743435"/>
            <a:ext cx="3910460" cy="30614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53E532-E32C-4C85-8192-5525F26D1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9854" y="1793821"/>
            <a:ext cx="4007741" cy="2734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19955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A3E0B9-3E21-4C81-B42F-83A7FC40B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Поворот матрицы</a:t>
            </a:r>
            <a:r>
              <a:rPr lang="en-US" dirty="0"/>
              <a:t> </a:t>
            </a:r>
            <a:r>
              <a:rPr lang="ru-RU" dirty="0"/>
              <a:t>90</a:t>
            </a:r>
            <a:r>
              <a:rPr lang="ru-RU" dirty="0">
                <a:sym typeface="Symbol" panose="05050102010706020507" pitchFamily="18" charset="2"/>
              </a:rPr>
              <a:t>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A4CB78-41BF-4453-A7AF-2FB6A7B2F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+mj-lt"/>
              <a:buAutoNum type="arabicPeriod"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Транспонирование</a:t>
            </a:r>
          </a:p>
          <a:p>
            <a:pPr>
              <a:buFont typeface="+mj-lt"/>
              <a:buAutoNum type="arabicPeriod"/>
            </a:pPr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Разорот каждой строки (2 указателя)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29F071F-14F8-4C95-88A4-B747E071B2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842" y="2619688"/>
            <a:ext cx="8570315" cy="2523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8398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B9C2A-34F3-4E92-AB13-11ECB8186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Avg Pooling 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89FDB2-0C1E-4FD7-A385-DA31C881E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F61842F-3F3E-42F2-BFFC-D2F3A13399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05456"/>
            <a:ext cx="9144000" cy="3686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63735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00701-A93B-4A67-91D6-4FCA4B657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Avg Pooling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560FC6-0ECB-414D-8201-3F6B4DE171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ru-RU" sz="2400" dirty="0">
                <a:solidFill>
                  <a:schemeClr val="bg2">
                    <a:lumMod val="50000"/>
                  </a:schemeClr>
                </a:solidFill>
              </a:rPr>
              <a:t>2 внешних цикла по матрице</a:t>
            </a:r>
          </a:p>
          <a:p>
            <a:r>
              <a:rPr lang="ru-RU" sz="2400" dirty="0">
                <a:solidFill>
                  <a:schemeClr val="bg2">
                    <a:lumMod val="50000"/>
                  </a:schemeClr>
                </a:solidFill>
              </a:rPr>
              <a:t>2 внутренних по площади (от </a:t>
            </a:r>
            <a:r>
              <a:rPr lang="en-US" sz="2400" dirty="0" err="1">
                <a:solidFill>
                  <a:schemeClr val="bg2">
                    <a:lumMod val="50000"/>
                  </a:schemeClr>
                </a:solidFill>
              </a:rPr>
              <a:t>i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</a:rPr>
              <a:t>(j) - n </a:t>
            </a:r>
            <a:r>
              <a:rPr lang="ru-RU" sz="2400" dirty="0">
                <a:solidFill>
                  <a:schemeClr val="bg2">
                    <a:lumMod val="50000"/>
                  </a:schemeClr>
                </a:solidFill>
              </a:rPr>
              <a:t>до </a:t>
            </a:r>
            <a:r>
              <a:rPr lang="en-US" sz="2400" dirty="0" err="1">
                <a:solidFill>
                  <a:schemeClr val="bg2">
                    <a:lumMod val="50000"/>
                  </a:schemeClr>
                </a:solidFill>
              </a:rPr>
              <a:t>i</a:t>
            </a:r>
            <a:r>
              <a:rPr lang="en-US" sz="2400" dirty="0">
                <a:solidFill>
                  <a:schemeClr val="bg2">
                    <a:lumMod val="50000"/>
                  </a:schemeClr>
                </a:solidFill>
              </a:rPr>
              <a:t>(j) + n</a:t>
            </a:r>
            <a:r>
              <a:rPr lang="ru-RU" sz="2400" dirty="0">
                <a:solidFill>
                  <a:schemeClr val="bg2">
                    <a:lumMod val="50000"/>
                  </a:schemeClr>
                </a:solidFill>
              </a:rPr>
              <a:t>) окна с ограничением по высоте и ширине, чтобы не получить выход за границы</a:t>
            </a:r>
          </a:p>
        </p:txBody>
      </p:sp>
    </p:spTree>
    <p:extLst>
      <p:ext uri="{BB962C8B-B14F-4D97-AF65-F5344CB8AC3E}">
        <p14:creationId xmlns:p14="http://schemas.microsoft.com/office/powerpoint/2010/main" val="311177381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B18D-0873-48A6-95B5-F26BF8226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RLE (Run-Length Encoding)</a:t>
            </a:r>
            <a:endParaRPr lang="ru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80FB6D-113B-4AE9-B537-F0C8AAECBD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Два указателя: </a:t>
            </a:r>
            <a:r>
              <a:rPr lang="en-US" dirty="0"/>
              <a:t>read, write</a:t>
            </a:r>
            <a:r>
              <a:rPr lang="ru-RU" dirty="0"/>
              <a:t> и один счетчик -</a:t>
            </a:r>
            <a:r>
              <a:rPr lang="en-US" dirty="0"/>
              <a:t> count</a:t>
            </a:r>
          </a:p>
          <a:p>
            <a:r>
              <a:rPr lang="ru-RU" dirty="0"/>
              <a:t>read — это индекс текущего непрочитанного символа (идёт слева направо)</a:t>
            </a:r>
          </a:p>
          <a:p>
            <a:r>
              <a:rPr lang="ru-RU" dirty="0"/>
              <a:t>write — это индекс следующей свободной позиции в результирующей части массива</a:t>
            </a:r>
          </a:p>
          <a:p>
            <a:r>
              <a:rPr lang="en-US" dirty="0"/>
              <a:t>count </a:t>
            </a:r>
            <a:r>
              <a:rPr lang="ru-RU" dirty="0"/>
              <a:t>– считает повторы</a:t>
            </a:r>
          </a:p>
        </p:txBody>
      </p:sp>
    </p:spTree>
    <p:extLst>
      <p:ext uri="{BB962C8B-B14F-4D97-AF65-F5344CB8AC3E}">
        <p14:creationId xmlns:p14="http://schemas.microsoft.com/office/powerpoint/2010/main" val="17819724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B6408-B0C3-4DB8-B690-32E49C841F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Домашнее задание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064F08-F84C-41F3-A523-E1BC3002F3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Повторить пройденное</a:t>
            </a:r>
          </a:p>
          <a:p>
            <a:r>
              <a:rPr lang="ru-RU" dirty="0">
                <a:solidFill>
                  <a:schemeClr val="bg2">
                    <a:lumMod val="50000"/>
                  </a:schemeClr>
                </a:solidFill>
              </a:rPr>
              <a:t>Реализовать утилиту: </a:t>
            </a:r>
            <a:r>
              <a:rPr lang="ru-RU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Б</a:t>
            </a:r>
            <a:r>
              <a:rPr lang="ru-RU" dirty="0">
                <a:solidFill>
                  <a:schemeClr val="bg2">
                    <a:lumMod val="50000"/>
                  </a:schemeClr>
                </a:solidFill>
                <a:latin typeface="Courier New" panose="02070309020205020404" pitchFamily="49" charset="0"/>
                <a:ea typeface="OpenSymbol" panose="05010000000000000000" pitchFamily="2" charset="2"/>
                <a:cs typeface="Courier New" panose="02070309020205020404" pitchFamily="49" charset="0"/>
              </a:rPr>
              <a:t>лочный шифр</a:t>
            </a:r>
          </a:p>
          <a:p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9298309"/>
      </p:ext>
    </p:extLst>
  </p:cSld>
  <p:clrMapOvr>
    <a:masterClrMapping/>
  </p:clrMapOvr>
</p:sld>
</file>

<file path=ppt/theme/theme1.xml><?xml version="1.0" encoding="utf-8"?>
<a:theme xmlns:a="http://schemas.openxmlformats.org/drawingml/2006/main" name="Material">
  <a:themeElements>
    <a:clrScheme name="Material">
      <a:dk1>
        <a:srgbClr val="4285F4"/>
      </a:dk1>
      <a:lt1>
        <a:srgbClr val="FFFFFF"/>
      </a:lt1>
      <a:dk2>
        <a:srgbClr val="424242"/>
      </a:dk2>
      <a:lt2>
        <a:srgbClr val="737373"/>
      </a:lt2>
      <a:accent1>
        <a:srgbClr val="0277BD"/>
      </a:accent1>
      <a:accent2>
        <a:srgbClr val="0F9D58"/>
      </a:accent2>
      <a:accent3>
        <a:srgbClr val="DB4437"/>
      </a:accent3>
      <a:accent4>
        <a:srgbClr val="FAFAFA"/>
      </a:accent4>
      <a:accent5>
        <a:srgbClr val="1A237E"/>
      </a:accent5>
      <a:accent6>
        <a:srgbClr val="F4B400"/>
      </a:accent6>
      <a:hlink>
        <a:srgbClr val="1A237E"/>
      </a:hlink>
      <a:folHlink>
        <a:srgbClr val="1A2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566</TotalTime>
  <Words>918</Words>
  <Application>Microsoft Office PowerPoint</Application>
  <PresentationFormat>On-screen Show (16:9)</PresentationFormat>
  <Paragraphs>182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Courier New</vt:lpstr>
      <vt:lpstr>Roboto</vt:lpstr>
      <vt:lpstr>Arial</vt:lpstr>
      <vt:lpstr>Material</vt:lpstr>
      <vt:lpstr>Mассивы. Алгоритмические приемы</vt:lpstr>
      <vt:lpstr>Актуализация </vt:lpstr>
      <vt:lpstr>Типы и структуры данных, управляющие конструкции. Различия</vt:lpstr>
      <vt:lpstr>1. Для каждого значения укажите подходящий тип в Java:</vt:lpstr>
      <vt:lpstr>1. Для каждого значения укажите подходящий тип в Java (ответ):</vt:lpstr>
      <vt:lpstr>2. Перевод с Python на Java</vt:lpstr>
      <vt:lpstr>2. Перевод с Python на Java (ответ)</vt:lpstr>
      <vt:lpstr>3. Перевод с Pascal на Python</vt:lpstr>
      <vt:lpstr>3. Перевод с Pascal на Python (ответ)</vt:lpstr>
      <vt:lpstr>4. Какой тип в Java подходит для дробного числа?</vt:lpstr>
      <vt:lpstr>5. В Python тип для True/False — это:</vt:lpstr>
      <vt:lpstr>6. В 1С нет разделения на целые и дробные. Как называется общий тип?</vt:lpstr>
      <vt:lpstr>7. Какой тип в Java используется для строки?</vt:lpstr>
      <vt:lpstr>8. Что означает статическая типизация?</vt:lpstr>
      <vt:lpstr>9. Сопоставьте</vt:lpstr>
      <vt:lpstr>9. Сопоставьте (ответ)</vt:lpstr>
      <vt:lpstr>10. Перевод с Pascal на Java</vt:lpstr>
      <vt:lpstr>Обновление массива на месте</vt:lpstr>
      <vt:lpstr>Пример. Сортировка</vt:lpstr>
      <vt:lpstr>Пример. Задача 5: Переместить нули в конец </vt:lpstr>
      <vt:lpstr>Два указателя – левый и правый</vt:lpstr>
      <vt:lpstr>Циклический сдвиг</vt:lpstr>
      <vt:lpstr>Циклический сдвиг</vt:lpstr>
      <vt:lpstr>Шифр Цезаря и таблица ASCII</vt:lpstr>
      <vt:lpstr>Шифр Цезаря и таблица ASCII</vt:lpstr>
      <vt:lpstr>Шифр Цезаря и таблица ASCII</vt:lpstr>
      <vt:lpstr>Алгоритм Шифр Цезаря. Вариант 1</vt:lpstr>
      <vt:lpstr>Алгоритм Шифр Цезаря. Вариант 2</vt:lpstr>
      <vt:lpstr>Матрицы</vt:lpstr>
      <vt:lpstr>Транспонирование</vt:lpstr>
      <vt:lpstr>Транспонирование</vt:lpstr>
      <vt:lpstr>Поворот матрицы 90</vt:lpstr>
      <vt:lpstr>Avg Pooling </vt:lpstr>
      <vt:lpstr>Avg Pooling</vt:lpstr>
      <vt:lpstr>RLE (Run-Length Encoding)</vt:lpstr>
      <vt:lpstr>Домашнее задание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Типы данных</dc:title>
  <cp:lastModifiedBy>Vadim Gabderakhmanov</cp:lastModifiedBy>
  <cp:revision>144</cp:revision>
  <dcterms:modified xsi:type="dcterms:W3CDTF">2026-09-30T21:11:53Z</dcterms:modified>
</cp:coreProperties>
</file>