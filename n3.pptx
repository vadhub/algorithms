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94" r:id="rId3"/>
    <p:sldId id="291" r:id="rId4"/>
    <p:sldId id="295" r:id="rId5"/>
    <p:sldId id="297" r:id="rId6"/>
    <p:sldId id="296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8" r:id="rId23"/>
    <p:sldId id="313" r:id="rId24"/>
    <p:sldId id="314" r:id="rId25"/>
    <p:sldId id="316" r:id="rId26"/>
    <p:sldId id="315" r:id="rId27"/>
    <p:sldId id="317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</p:sldIdLst>
  <p:sldSz cx="9144000" cy="5143500" type="screen16x9"/>
  <p:notesSz cx="6858000" cy="9144000"/>
  <p:embeddedFontLst>
    <p:embeddedFont>
      <p:font typeface="Robot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26A4"/>
    <a:srgbClr val="B76B01"/>
    <a:srgbClr val="649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</a:t>
            </a:r>
            <a:r>
              <a:rPr lang="ru-RU" dirty="0"/>
              <a:t>ассивы. Алгоритмические приемы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Актуализация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Какие типы данных существует в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Java?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Чем структура данных отличается от управляющей конструкции?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 такое стэк?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Как записать цикл «выведи все четные числа из массива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arr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» на Python? На Pascal? На 1С?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Java?</a:t>
            </a: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71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Типы и структуры данных, управляющие конструкции. Различия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30154-AC68-47F8-9CA1-DE18A0669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70" y="1726002"/>
            <a:ext cx="4696003" cy="32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7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1. </a:t>
            </a:r>
            <a:r>
              <a:rPr lang="ru-RU" dirty="0"/>
              <a:t>Для каждого значения укажите подходящий тип в Java: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0E7F140-4C9C-4F6A-93F3-2556E9097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362424"/>
              </p:ext>
            </p:extLst>
          </p:nvPr>
        </p:nvGraphicFramePr>
        <p:xfrm>
          <a:off x="1448843" y="217973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34701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64668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 </a:t>
                      </a:r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48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3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1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36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"Привет"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88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'A'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061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84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1. </a:t>
            </a:r>
            <a:r>
              <a:rPr lang="ru-RU" dirty="0"/>
              <a:t>Для каждого значения укажите подходящий тип в Java</a:t>
            </a:r>
            <a:r>
              <a:rPr lang="en-GB" dirty="0"/>
              <a:t> (</a:t>
            </a:r>
            <a:r>
              <a:rPr lang="ru-RU" dirty="0"/>
              <a:t>ответ</a:t>
            </a:r>
            <a:r>
              <a:rPr lang="en-GB" dirty="0"/>
              <a:t>)</a:t>
            </a:r>
            <a:r>
              <a:rPr lang="ru-RU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11EA7-7DD3-44EC-B774-4E8B09F97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0E7F140-4C9C-4F6A-93F3-2556E9097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847831"/>
              </p:ext>
            </p:extLst>
          </p:nvPr>
        </p:nvGraphicFramePr>
        <p:xfrm>
          <a:off x="1448843" y="217973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34701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64668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в </a:t>
                      </a:r>
                      <a:r>
                        <a:rPr lang="en-US" dirty="0"/>
                        <a:t>Java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148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3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double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1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boolean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36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"Привет"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88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'A'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061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640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2. Перевод с Python на Java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ED2AFF-8952-434F-9D36-744A28081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4191" y="2188784"/>
            <a:ext cx="235801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a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10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b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3.14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c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True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B76B0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print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(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a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+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b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)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ACCA4-46E0-43C6-AB90-5E42F0DE0E6E}"/>
              </a:ext>
            </a:extLst>
          </p:cNvPr>
          <p:cNvSpPr txBox="1"/>
          <p:nvPr/>
        </p:nvSpPr>
        <p:spPr>
          <a:xfrm>
            <a:off x="1459283" y="1777061"/>
            <a:ext cx="1534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Python: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35466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C1FC-D4F4-47F9-BC30-452189D0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2. Перевод с Python на Java (ответ)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ED2AFF-8952-434F-9D36-744A28081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74191" y="2188784"/>
            <a:ext cx="235801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a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10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b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3.14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c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=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True</a:t>
            </a:r>
            <a:endParaRPr kumimoji="0" lang="en-GB" altLang="ru-RU" sz="3600" b="0" i="0" u="none" strike="noStrike" cap="none" normalizeH="0" baseline="0" dirty="0">
              <a:ln>
                <a:noFill/>
              </a:ln>
              <a:solidFill>
                <a:srgbClr val="B76B0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print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(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a 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+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b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)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ACCA4-46E0-43C6-AB90-5E42F0DE0E6E}"/>
              </a:ext>
            </a:extLst>
          </p:cNvPr>
          <p:cNvSpPr txBox="1"/>
          <p:nvPr/>
        </p:nvSpPr>
        <p:spPr>
          <a:xfrm>
            <a:off x="1459283" y="1777061"/>
            <a:ext cx="1534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Python:</a:t>
            </a:r>
            <a:endParaRPr lang="ru-RU" sz="2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021A885-63C6-43E7-B644-BB36816C5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09" y="2188784"/>
            <a:ext cx="528189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3600" dirty="0">
                <a:solidFill>
                  <a:srgbClr val="0F1115"/>
                </a:solidFill>
                <a:latin typeface="+mn-lt"/>
              </a:rPr>
              <a:t>int 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a </a:t>
            </a:r>
            <a:r>
              <a:rPr lang="ru-RU" altLang="ru-RU" sz="3600" dirty="0">
                <a:solidFill>
                  <a:srgbClr val="4078F2"/>
                </a:solidFill>
                <a:latin typeface="+mn-lt"/>
              </a:rPr>
              <a:t>=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 </a:t>
            </a:r>
            <a:r>
              <a:rPr lang="ru-RU" altLang="ru-RU" sz="3600" dirty="0">
                <a:solidFill>
                  <a:srgbClr val="B76B01"/>
                </a:solidFill>
                <a:latin typeface="+mn-lt"/>
              </a:rPr>
              <a:t>10</a:t>
            </a:r>
            <a:r>
              <a:rPr lang="en-US" altLang="ru-RU" sz="3600" dirty="0">
                <a:solidFill>
                  <a:srgbClr val="B76B01"/>
                </a:solidFill>
                <a:latin typeface="+mn-lt"/>
              </a:rPr>
              <a:t>;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 </a:t>
            </a:r>
            <a:endParaRPr lang="en-GB" altLang="ru-RU" sz="3600" dirty="0">
              <a:solidFill>
                <a:srgbClr val="0F1115"/>
              </a:solidFill>
              <a:latin typeface="+mn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3600" dirty="0">
                <a:solidFill>
                  <a:srgbClr val="0F1115"/>
                </a:solidFill>
                <a:latin typeface="+mn-lt"/>
              </a:rPr>
              <a:t>double 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b </a:t>
            </a:r>
            <a:r>
              <a:rPr lang="ru-RU" altLang="ru-RU" sz="3600" dirty="0">
                <a:solidFill>
                  <a:srgbClr val="4078F2"/>
                </a:solidFill>
                <a:latin typeface="+mn-lt"/>
              </a:rPr>
              <a:t>=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 </a:t>
            </a:r>
            <a:r>
              <a:rPr lang="ru-RU" altLang="ru-RU" sz="3600" dirty="0">
                <a:solidFill>
                  <a:srgbClr val="B76B01"/>
                </a:solidFill>
                <a:latin typeface="+mn-lt"/>
              </a:rPr>
              <a:t>3.14</a:t>
            </a:r>
            <a:r>
              <a:rPr lang="en-US" altLang="ru-RU" sz="3600" dirty="0">
                <a:solidFill>
                  <a:srgbClr val="0F1115"/>
                </a:solidFill>
                <a:latin typeface="+mn-lt"/>
              </a:rPr>
              <a:t>;</a:t>
            </a:r>
            <a:endParaRPr lang="en-GB" altLang="ru-RU" sz="3600" dirty="0">
              <a:solidFill>
                <a:srgbClr val="0F1115"/>
              </a:solidFill>
              <a:latin typeface="+mn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3600" dirty="0" err="1">
                <a:solidFill>
                  <a:srgbClr val="0F1115"/>
                </a:solidFill>
                <a:latin typeface="+mn-lt"/>
              </a:rPr>
              <a:t>boolean</a:t>
            </a:r>
            <a:r>
              <a:rPr lang="en-US" altLang="ru-RU" sz="3600" dirty="0">
                <a:solidFill>
                  <a:srgbClr val="0F1115"/>
                </a:solidFill>
                <a:latin typeface="+mn-lt"/>
              </a:rPr>
              <a:t> 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c </a:t>
            </a:r>
            <a:r>
              <a:rPr lang="ru-RU" altLang="ru-RU" sz="3600" dirty="0">
                <a:solidFill>
                  <a:srgbClr val="4078F2"/>
                </a:solidFill>
                <a:latin typeface="+mn-lt"/>
              </a:rPr>
              <a:t>=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 </a:t>
            </a:r>
            <a:r>
              <a:rPr lang="en-US" altLang="ru-RU" sz="3600" dirty="0">
                <a:solidFill>
                  <a:srgbClr val="B76B01"/>
                </a:solidFill>
                <a:latin typeface="+mn-lt"/>
              </a:rPr>
              <a:t>t</a:t>
            </a:r>
            <a:r>
              <a:rPr lang="ru-RU" altLang="ru-RU" sz="3600" dirty="0">
                <a:solidFill>
                  <a:srgbClr val="B76B01"/>
                </a:solidFill>
                <a:latin typeface="+mn-lt"/>
              </a:rPr>
              <a:t>rue</a:t>
            </a:r>
            <a:r>
              <a:rPr lang="en-US" altLang="ru-RU" sz="3600" dirty="0">
                <a:solidFill>
                  <a:srgbClr val="B76B01"/>
                </a:solidFill>
                <a:latin typeface="+mn-lt"/>
              </a:rPr>
              <a:t>;</a:t>
            </a:r>
            <a:endParaRPr lang="en-GB" altLang="ru-RU" sz="3600" dirty="0">
              <a:solidFill>
                <a:srgbClr val="B76B01"/>
              </a:solidFill>
              <a:latin typeface="+mn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3600" dirty="0" err="1">
                <a:solidFill>
                  <a:srgbClr val="A626A4"/>
                </a:solidFill>
                <a:latin typeface="+mn-lt"/>
              </a:rPr>
              <a:t>System.out</a:t>
            </a:r>
            <a:r>
              <a:rPr lang="en-US" altLang="ru-RU" sz="3600" dirty="0">
                <a:solidFill>
                  <a:srgbClr val="A626A4"/>
                </a:solidFill>
                <a:latin typeface="+mn-lt"/>
              </a:rPr>
              <a:t>.</a:t>
            </a:r>
            <a:r>
              <a:rPr lang="ru-RU" altLang="ru-RU" sz="3600" dirty="0">
                <a:solidFill>
                  <a:srgbClr val="A626A4"/>
                </a:solidFill>
                <a:latin typeface="+mn-lt"/>
              </a:rPr>
              <a:t>print</a:t>
            </a:r>
            <a:r>
              <a:rPr lang="en-US" altLang="ru-RU" sz="3600" dirty="0">
                <a:solidFill>
                  <a:srgbClr val="A626A4"/>
                </a:solidFill>
                <a:latin typeface="+mn-lt"/>
              </a:rPr>
              <a:t>ln</a:t>
            </a:r>
            <a:r>
              <a:rPr lang="ru-RU" altLang="ru-RU" sz="3600" dirty="0">
                <a:solidFill>
                  <a:srgbClr val="383A42"/>
                </a:solidFill>
                <a:latin typeface="+mn-lt"/>
              </a:rPr>
              <a:t>(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a </a:t>
            </a:r>
            <a:r>
              <a:rPr lang="ru-RU" altLang="ru-RU" sz="3600" dirty="0">
                <a:solidFill>
                  <a:srgbClr val="4078F2"/>
                </a:solidFill>
                <a:latin typeface="+mn-lt"/>
              </a:rPr>
              <a:t>+</a:t>
            </a: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> b</a:t>
            </a:r>
            <a:r>
              <a:rPr lang="ru-RU" altLang="ru-RU" sz="3600" dirty="0">
                <a:solidFill>
                  <a:srgbClr val="383A42"/>
                </a:solidFill>
                <a:latin typeface="+mn-lt"/>
              </a:rPr>
              <a:t>)</a:t>
            </a:r>
            <a:r>
              <a:rPr lang="en-US" altLang="ru-RU" sz="3600" dirty="0">
                <a:solidFill>
                  <a:srgbClr val="383A42"/>
                </a:solidFill>
                <a:latin typeface="+mn-lt"/>
              </a:rPr>
              <a:t>;</a:t>
            </a:r>
            <a:r>
              <a:rPr lang="ru-RU" altLang="ru-RU" sz="36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8051C-6B38-45D2-9FF0-698039F1AB6C}"/>
              </a:ext>
            </a:extLst>
          </p:cNvPr>
          <p:cNvSpPr txBox="1"/>
          <p:nvPr/>
        </p:nvSpPr>
        <p:spPr>
          <a:xfrm>
            <a:off x="3932209" y="1777061"/>
            <a:ext cx="1534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Java: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8717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086A-28FB-43C7-8448-0C4D430E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Перевод с Pascal на Python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77307-C712-4B10-B9B7-A33BF0D8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572" y="2098865"/>
            <a:ext cx="238903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pascal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var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integer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begin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 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x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:=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5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;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writeln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x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*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2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);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end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970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086A-28FB-43C7-8448-0C4D430E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Перевод с Pascal на Python</a:t>
            </a:r>
            <a:r>
              <a:rPr lang="en-US" dirty="0"/>
              <a:t> (</a:t>
            </a:r>
            <a:r>
              <a:rPr lang="ru-RU" dirty="0"/>
              <a:t>ответ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77307-C712-4B10-B9B7-A33BF0D8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3052" y="2011182"/>
            <a:ext cx="238903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pascal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var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integer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begin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 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x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:=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5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;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writeln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x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j-lt"/>
              </a:rPr>
              <a:t>*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j-lt"/>
              </a:rPr>
              <a:t>2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);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lt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j-lt"/>
              </a:rPr>
              <a:t>end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j-lt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A3D40D-5181-4CD3-80E3-60DD5F6E9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812" y="2011181"/>
            <a:ext cx="238903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 spc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2400" dirty="0">
                <a:solidFill>
                  <a:srgbClr val="0F1115"/>
                </a:solidFill>
                <a:latin typeface="+mj-lt"/>
              </a:rPr>
              <a:t>python</a:t>
            </a:r>
            <a:endParaRPr lang="ru-RU" altLang="ru-RU" sz="2400" dirty="0">
              <a:solidFill>
                <a:srgbClr val="0F1115"/>
              </a:solidFill>
              <a:latin typeface="+mj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x </a:t>
            </a:r>
            <a:r>
              <a:rPr lang="ru-RU" altLang="ru-RU" sz="2400" dirty="0">
                <a:solidFill>
                  <a:srgbClr val="4078F2"/>
                </a:solidFill>
                <a:latin typeface="+mj-lt"/>
              </a:rPr>
              <a:t>=</a:t>
            </a: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B76B01"/>
                </a:solidFill>
                <a:latin typeface="+mj-lt"/>
              </a:rPr>
              <a:t>5</a:t>
            </a:r>
            <a:endParaRPr lang="en-US" altLang="ru-RU" sz="2400" dirty="0">
              <a:solidFill>
                <a:srgbClr val="383A42"/>
              </a:solidFill>
              <a:latin typeface="+mj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sz="2400" dirty="0">
                <a:solidFill>
                  <a:srgbClr val="0F1115"/>
                </a:solidFill>
                <a:latin typeface="+mj-lt"/>
              </a:rPr>
              <a:t>p</a:t>
            </a: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ri</a:t>
            </a:r>
            <a:r>
              <a:rPr lang="en-US" altLang="ru-RU" sz="2400" dirty="0">
                <a:solidFill>
                  <a:srgbClr val="0F1115"/>
                </a:solidFill>
                <a:latin typeface="+mj-lt"/>
              </a:rPr>
              <a:t>n</a:t>
            </a: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t</a:t>
            </a:r>
            <a:r>
              <a:rPr lang="ru-RU" altLang="ru-RU" sz="2400" dirty="0">
                <a:solidFill>
                  <a:srgbClr val="383A42"/>
                </a:solidFill>
                <a:latin typeface="+mj-lt"/>
              </a:rPr>
              <a:t>(</a:t>
            </a: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x </a:t>
            </a:r>
            <a:r>
              <a:rPr lang="ru-RU" altLang="ru-RU" sz="2400" dirty="0">
                <a:solidFill>
                  <a:srgbClr val="4078F2"/>
                </a:solidFill>
                <a:latin typeface="+mj-lt"/>
              </a:rPr>
              <a:t>*</a:t>
            </a:r>
            <a:r>
              <a:rPr lang="ru-RU" altLang="ru-RU" sz="2400" dirty="0">
                <a:solidFill>
                  <a:srgbClr val="0F1115"/>
                </a:solidFill>
                <a:latin typeface="+mj-lt"/>
              </a:rPr>
              <a:t> </a:t>
            </a:r>
            <a:r>
              <a:rPr lang="ru-RU" altLang="ru-RU" sz="2400" dirty="0">
                <a:solidFill>
                  <a:srgbClr val="B76B01"/>
                </a:solidFill>
                <a:latin typeface="+mj-lt"/>
              </a:rPr>
              <a:t>2</a:t>
            </a:r>
            <a:r>
              <a:rPr lang="ru-RU" altLang="ru-RU" sz="2400" dirty="0">
                <a:solidFill>
                  <a:srgbClr val="383A42"/>
                </a:solidFill>
                <a:latin typeface="+mj-lt"/>
              </a:rPr>
              <a:t>)</a:t>
            </a:r>
            <a:endParaRPr lang="en-US" altLang="ru-RU" sz="2400" dirty="0">
              <a:solidFill>
                <a:srgbClr val="0F111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697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A39D-7F64-44A8-9269-9618FA80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Какой тип в Java подходит для дробного числа?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C1D8-405F-4F5A-BC76-EA232C9C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+mn-lt"/>
              </a:rPr>
              <a:t>a) 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+mn-lt"/>
              </a:rPr>
              <a:t>b) double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+mn-lt"/>
              </a:rPr>
              <a:t>c)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+mn-lt"/>
              </a:rPr>
              <a:t>boolean</a:t>
            </a:r>
            <a:endParaRPr lang="en-US" b="0" i="0" dirty="0">
              <a:solidFill>
                <a:srgbClr val="0F1115"/>
              </a:solidFill>
              <a:effectLst/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+mn-lt"/>
              </a:rPr>
              <a:t>d) String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5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1A2F-38BF-461A-8A75-8D1186F2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5. В Python тип для True/False — это: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86E78-385E-4E88-BEDE-3CF084378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+mn-lt"/>
              </a:rPr>
              <a:t>a) int</a:t>
            </a:r>
          </a:p>
          <a:p>
            <a:r>
              <a:rPr lang="en-US" dirty="0">
                <a:solidFill>
                  <a:schemeClr val="bg2"/>
                </a:solidFill>
                <a:latin typeface="+mn-lt"/>
              </a:rPr>
              <a:t>b) bool</a:t>
            </a:r>
          </a:p>
          <a:p>
            <a:r>
              <a:rPr lang="en-US" dirty="0">
                <a:solidFill>
                  <a:schemeClr val="bg2"/>
                </a:solidFill>
                <a:latin typeface="+mn-lt"/>
              </a:rPr>
              <a:t>c) </a:t>
            </a:r>
            <a:r>
              <a:rPr lang="en-US" dirty="0" err="1">
                <a:solidFill>
                  <a:schemeClr val="bg2"/>
                </a:solidFill>
                <a:latin typeface="+mn-lt"/>
              </a:rPr>
              <a:t>boolean</a:t>
            </a:r>
            <a:endParaRPr lang="en-US" dirty="0">
              <a:solidFill>
                <a:schemeClr val="bg2"/>
              </a:solidFill>
              <a:latin typeface="+mn-lt"/>
            </a:endParaRPr>
          </a:p>
          <a:p>
            <a:r>
              <a:rPr lang="en-US" dirty="0">
                <a:solidFill>
                  <a:schemeClr val="bg2"/>
                </a:solidFill>
                <a:latin typeface="+mn-lt"/>
              </a:rPr>
              <a:t>d) logical</a:t>
            </a:r>
            <a:endParaRPr lang="ru-RU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207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AF79-9DF2-47C6-A694-523E573D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6. В 1С нет разделения на целые и дробные. Как называется общий тип?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1AFA-7430-4D75-95E5-30D76884B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a)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Число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b) int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c) float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d) double</a:t>
            </a:r>
            <a:endParaRPr lang="ru-RU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8229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6DCD-E24F-4ABF-A78F-76DC1ABB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7. Какой тип в Java используется для строки?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23D53-B8F7-4EF3-99D4-079225A9C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a) string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b) String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c) str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d) char[]</a:t>
            </a:r>
            <a:endParaRPr lang="ru-RU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90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8B10-358B-4EC8-9E1D-2657D0A9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8. Что означает статическая типизация?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8A2C7-032C-4CFD-8007-84B4FF18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a) тип определяется при запуске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b) тип известен при объявлении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c) тип не важен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d) тип меняется автоматически</a:t>
            </a:r>
          </a:p>
        </p:txBody>
      </p:sp>
    </p:spTree>
    <p:extLst>
      <p:ext uri="{BB962C8B-B14F-4D97-AF65-F5344CB8AC3E}">
        <p14:creationId xmlns:p14="http://schemas.microsoft.com/office/powerpoint/2010/main" val="17246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6C6B-CA1B-4EAD-B6F3-E54A7CEC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9. Сопоставьте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EAAF6-148C-4B71-B001-02CA9F7C7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CD8F92-875F-4908-B92E-F7F264D0B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387912"/>
              </p:ext>
            </p:extLst>
          </p:nvPr>
        </p:nvGraphicFramePr>
        <p:xfrm>
          <a:off x="1480159" y="223702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563651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526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61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 Ключ →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6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Очередь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LIFO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6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FIFO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Словарь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 Два конца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3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595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6C6B-CA1B-4EAD-B6F3-E54A7CEC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9. Сопоставьте (ответ)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EAAF6-148C-4B71-B001-02CA9F7C7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CD8F92-875F-4908-B92E-F7F264D0B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386594"/>
              </p:ext>
            </p:extLst>
          </p:nvPr>
        </p:nvGraphicFramePr>
        <p:xfrm>
          <a:off x="1480159" y="223702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563651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5262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Принцип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61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2. LIFO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16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Очередь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FIFO</a:t>
                      </a:r>
                      <a:r>
                        <a:rPr lang="ru-RU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6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 Два конца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2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Словарь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1. Ключ → 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3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289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1B8D-0BE2-4146-9A30-E6D0ACEE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10. Перевод с Pascal на Java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B68902-E393-443A-AC1B-BB66912D6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04465" y="1951812"/>
            <a:ext cx="2883803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pascal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var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array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..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3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of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integer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begin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    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:=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10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solidFill>
                  <a:srgbClr val="383A42"/>
                </a:solidFill>
                <a:latin typeface="+mn-lt"/>
              </a:rPr>
              <a:t>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2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:=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20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solidFill>
                  <a:srgbClr val="383A42"/>
                </a:solidFill>
                <a:latin typeface="+mn-lt"/>
              </a:rPr>
              <a:t>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3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:=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30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solidFill>
                  <a:srgbClr val="383A42"/>
                </a:solidFill>
                <a:latin typeface="+mn-lt"/>
              </a:rPr>
              <a:t>   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writeln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(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1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+mn-lt"/>
              </a:rPr>
              <a:t>+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 arr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[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+mn-lt"/>
              </a:rPr>
              <a:t>2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]);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+mn-lt"/>
              </a:rPr>
              <a:t>end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+mn-lt"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620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FDD3-9416-4F1E-AF7A-14344B77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массива на месте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6444D-AF84-4C41-8F4C-53E9CBDDD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61DB9-3498-4268-A3C9-E43381AA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0" y="1828800"/>
            <a:ext cx="4738382" cy="2077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BCDF59-5239-4852-A9EE-317DAE99F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93" y="4228274"/>
            <a:ext cx="3267531" cy="828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1A1AE-AC56-4BCF-8BAD-118E1CC7732A}"/>
              </a:ext>
            </a:extLst>
          </p:cNvPr>
          <p:cNvSpPr txBox="1"/>
          <p:nvPr/>
        </p:nvSpPr>
        <p:spPr>
          <a:xfrm>
            <a:off x="471900" y="4002066"/>
            <a:ext cx="127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3769094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D24A-E474-4D51-8036-5305CF02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27" y="361264"/>
            <a:ext cx="8222100" cy="767700"/>
          </a:xfrm>
        </p:spPr>
        <p:txBody>
          <a:bodyPr/>
          <a:lstStyle/>
          <a:p>
            <a:r>
              <a:rPr lang="ru-RU" dirty="0"/>
              <a:t>Пример. Сортировка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C8-73A2-4836-8D9E-BB5E7258A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073CAC-3C5E-4309-AEC9-3B0D5C760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73" y="1066334"/>
            <a:ext cx="3959283" cy="37711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9A67F-82E9-4101-BF87-9B913853157A}"/>
              </a:ext>
            </a:extLst>
          </p:cNvPr>
          <p:cNvSpPr txBox="1"/>
          <p:nvPr/>
        </p:nvSpPr>
        <p:spPr>
          <a:xfrm>
            <a:off x="4572000" y="2029217"/>
            <a:ext cx="127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ADE98-F310-433C-AE65-C56F251A9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77" y="2373354"/>
            <a:ext cx="3248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8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4E93-807A-48FD-A12C-37FCC4CB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Пример. Задача 5: Переместить нули в конец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95684-AE28-46B8-A06D-8B784F677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Держим указатель insertPos — позицию, куда должен встать следующий ненулевой элемент. В цикле идём по массиву указателем i. Как только видим ненулевой элемент — меняем его местами с nums[insertPos] и сдвигаем insertPos вправо.</a:t>
            </a:r>
          </a:p>
          <a:p>
            <a:endParaRPr lang="ru-RU" dirty="0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Всё, что оказалось слева от insertPos, — уже ненулевые в правильном порядке. Всё, что справа, постепенно заполняется нулями.</a:t>
            </a:r>
          </a:p>
        </p:txBody>
      </p:sp>
    </p:spTree>
    <p:extLst>
      <p:ext uri="{BB962C8B-B14F-4D97-AF65-F5344CB8AC3E}">
        <p14:creationId xmlns:p14="http://schemas.microsoft.com/office/powerpoint/2010/main" val="2630180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1B9C-C611-434D-9CDC-C1801DF1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Два указателя – левый и правый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4F7E5-60D8-4180-854A-0F7D577B5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Удобно использовать в задаче на проверку палиндрома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6903D-6E35-4359-8D0F-AE247AC28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60" y="2325032"/>
            <a:ext cx="5232273" cy="2624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ADE009-B1DF-40CF-A38C-36837E48C904}"/>
              </a:ext>
            </a:extLst>
          </p:cNvPr>
          <p:cNvSpPr txBox="1"/>
          <p:nvPr/>
        </p:nvSpPr>
        <p:spPr>
          <a:xfrm>
            <a:off x="5801105" y="2615591"/>
            <a:ext cx="1275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7924C5-26CD-4FAC-A89B-73C9E7388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62" y="2879527"/>
            <a:ext cx="321037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23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E986-8862-4DBB-B6E0-F8A4FC3E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Циклический сдвиг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42BC1-09DC-4ABA-9F14-7C59F2F4F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61 минут % 60 минут в часх = 1 час 1 минута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45CC9-A655-42B7-8EB9-78D01A843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37" y="2331725"/>
            <a:ext cx="2710200" cy="27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64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58AB-B662-43BB-8287-ED557B97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Циклический сдвиг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822BC-94B1-46A7-815A-88AC67FB8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n –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сдвиг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last –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взять 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последный 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элемент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Нужно идти </a:t>
            </a:r>
          </a:p>
          <a:p>
            <a:pPr marL="114300" indent="0">
              <a:buNone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 конца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FC450-577E-4E89-A2CF-56EA57D31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78" y="1680881"/>
            <a:ext cx="5700176" cy="32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42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8182-CC7E-4237-AB2A-4B3DFDB5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Цезаря и таблица </a:t>
            </a:r>
            <a:r>
              <a:rPr lang="en-US" dirty="0"/>
              <a:t>ASCII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5865-EF22-46DD-9D17-5766E0BE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Можно использовать факт того, что буквы закодированы в таблице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ASCII (Unicode)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и имеют свой код, причем буквы идут в алфавитном порядке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1430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8CF8E-C903-4C06-A190-8EA85EA0A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20" y="3011827"/>
            <a:ext cx="4147244" cy="1063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76CACA-42A2-4050-8831-8B96D1087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47" y="2934985"/>
            <a:ext cx="645895" cy="962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7847CA-7AC0-45D9-A3A5-42FD45DB8BC5}"/>
              </a:ext>
            </a:extLst>
          </p:cNvPr>
          <p:cNvSpPr txBox="1"/>
          <p:nvPr/>
        </p:nvSpPr>
        <p:spPr>
          <a:xfrm>
            <a:off x="5110620" y="2857938"/>
            <a:ext cx="1835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4245216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8182-CC7E-4237-AB2A-4B3DFDB5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9" y="0"/>
            <a:ext cx="8222100" cy="767700"/>
          </a:xfrm>
        </p:spPr>
        <p:txBody>
          <a:bodyPr/>
          <a:lstStyle/>
          <a:p>
            <a:r>
              <a:rPr lang="ru-RU" dirty="0"/>
              <a:t>Шифр Цезаря и таблица </a:t>
            </a:r>
            <a:r>
              <a:rPr lang="en-US" dirty="0"/>
              <a:t>ASCII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5865-EF22-46DD-9D17-5766E0BE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E4FC9-CAF1-4FB1-9B10-195B5262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63" y="767700"/>
            <a:ext cx="5761452" cy="432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4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8182-CC7E-4237-AB2A-4B3DFDB5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Цезаря и таблица </a:t>
            </a:r>
            <a:r>
              <a:rPr lang="en-US" dirty="0"/>
              <a:t>ASCII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5865-EF22-46DD-9D17-5766E0BE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Чтобы вывести весь алфавит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Вывод в 5 столбцов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16157-FBC0-41B5-90BF-9E63F96A4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41" y="2312508"/>
            <a:ext cx="4058216" cy="828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9F2AB9-B022-43F5-BD98-33E5A4FF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63" y="3583379"/>
            <a:ext cx="3667637" cy="1409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E230C5-759F-4780-9758-2F36A667D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41" y="3534731"/>
            <a:ext cx="4122000" cy="15071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A96B39-0BFF-4302-A8D2-21592E1CD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898" y="1696149"/>
            <a:ext cx="828791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74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B1CD-D96C-46B1-BD90-E8B9283C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Шифр Цезаря. Вариант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C3C29-0D12-4A16-BCE2-3A913868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Нормализовать сдвиг (т.к. он может быть отрицательным)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 цикле взять текущий индекс элемента из таблицы (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text[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 – ‘a’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 цикле прибавить к текущему индексу норм. сдвиг 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Взять остаток на длину алфавита и прибавить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‘a’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 – преобразуем в код из таблицы</a:t>
            </a:r>
          </a:p>
          <a:p>
            <a:pPr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1886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B1CD-D96C-46B1-BD90-E8B9283C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Шифр Цезаря. Вариант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C3C29-0D12-4A16-BCE2-3A913868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Создать массив с алфавитом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Нормализовать сдвиг (т.к. он может быть отрицательным)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Создать внешний цикл на количество сдвигов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 внутреннем цикле: если встретилась буква алфавита - прибавить к текущему индексу норм. сдвиг и взять остаток на длину алфавита 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Выйти из внутреннего цикла</a:t>
            </a:r>
          </a:p>
          <a:p>
            <a:pPr>
              <a:buFont typeface="+mj-lt"/>
              <a:buAutoNum type="arabicPeriod"/>
            </a:pPr>
            <a:endParaRPr lang="ru-RU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01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0DA2-46F2-450F-8496-9A1F5321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95BDA-4798-46DB-9B47-4CA239F3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899" y="1919075"/>
            <a:ext cx="2315141" cy="2710200"/>
          </a:xfrm>
        </p:spPr>
        <p:txBody>
          <a:bodyPr/>
          <a:lstStyle/>
          <a:p>
            <a:r>
              <a:rPr lang="ru-RU" dirty="0"/>
              <a:t>(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0,1) – индексы</a:t>
            </a:r>
          </a:p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97C71-F5EE-48EA-8916-7A7C8EC1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40" y="1711462"/>
            <a:ext cx="4516789" cy="3125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7CE9C-F763-4FC5-9321-3DBE4A204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39" y="2732614"/>
            <a:ext cx="2213129" cy="124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22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5F92-ABC7-4ADB-820F-2DAFE82C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Транспонирование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388EC-CB82-41F3-A63C-747C68A6C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Столбцы становятся строками, строки столбцами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125D6-C7B0-49CA-99DD-9427807B7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25" y="2421759"/>
            <a:ext cx="7435773" cy="250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769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BE03-ED05-454E-8CB4-6481580F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Транспонирование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3EC50-C604-42FB-AF74-809486213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DB621-EE39-4134-952C-5A9026FC2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743435"/>
            <a:ext cx="3910460" cy="3061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3E532-E32C-4C85-8192-5525F26D1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54" y="1793821"/>
            <a:ext cx="4007741" cy="27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95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E0B9-3E21-4C81-B42F-83A7FC40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Поворот матрицы</a:t>
            </a:r>
            <a:r>
              <a:rPr lang="en-US" dirty="0"/>
              <a:t> </a:t>
            </a:r>
            <a:r>
              <a:rPr lang="ru-RU"/>
              <a:t>90</a:t>
            </a:r>
            <a:r>
              <a:rPr lang="ru-RU">
                <a:sym typeface="Symbol" panose="05050102010706020507" pitchFamily="18" charset="2"/>
              </a:rPr>
              <a:t> по часовой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CB78-41BF-4453-A7AF-2FB6A7B2F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Транспонирование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Разворот каждой строки (2 указателя)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F071F-14F8-4C95-88A4-B747E071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42" y="2619688"/>
            <a:ext cx="8570315" cy="252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39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9C2A-34F3-4E92-AB13-11ECB818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Avg Pooling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9FDB2-0C1E-4FD7-A385-DA31C881E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1842F-3F3E-42F2-BFFC-D2F3A1339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456"/>
            <a:ext cx="9144000" cy="368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73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0701-A93B-4A67-91D6-4FCA4B65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Avg Pooling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60FC6-0ECB-414D-8201-3F6B4DE17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2 внешних цикла по матрице</a:t>
            </a:r>
          </a:p>
          <a:p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2 внутренних по площади (от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(j) - n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до </a:t>
            </a:r>
            <a:r>
              <a:rPr lang="en-US" sz="2400" dirty="0" err="1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(j) + n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</a:rPr>
              <a:t>) окна с ограничением по высоте и ширине, чтобы не получить выход за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3111773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B18D-0873-48A6-95B5-F26BF822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RLE (Run-Length Encoding)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0FB6D-113B-4AE9-B537-F0C8AAECB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Два указателя: </a:t>
            </a:r>
            <a:r>
              <a:rPr lang="en-US" dirty="0"/>
              <a:t>read, write</a:t>
            </a:r>
            <a:r>
              <a:rPr lang="ru-RU" dirty="0"/>
              <a:t> и один счетчик -</a:t>
            </a:r>
            <a:r>
              <a:rPr lang="en-US" dirty="0"/>
              <a:t> count</a:t>
            </a:r>
          </a:p>
          <a:p>
            <a:r>
              <a:rPr lang="ru-RU" dirty="0"/>
              <a:t>read — это индекс текущего непрочитанного символа (идёт слева направо)</a:t>
            </a:r>
          </a:p>
          <a:p>
            <a:r>
              <a:rPr lang="ru-RU" dirty="0"/>
              <a:t>write — это индекс следующей свободной позиции в результирующей части массива</a:t>
            </a:r>
          </a:p>
          <a:p>
            <a:r>
              <a:rPr lang="en-US" dirty="0"/>
              <a:t>count </a:t>
            </a:r>
            <a:r>
              <a:rPr lang="ru-RU" dirty="0"/>
              <a:t>– считает повторы</a:t>
            </a:r>
          </a:p>
        </p:txBody>
      </p:sp>
    </p:spTree>
    <p:extLst>
      <p:ext uri="{BB962C8B-B14F-4D97-AF65-F5344CB8AC3E}">
        <p14:creationId xmlns:p14="http://schemas.microsoft.com/office/powerpoint/2010/main" val="17819724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6408-B0C3-4DB8-B690-32E49C84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64F08-F84C-41F3-A523-E1BC3002F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Повторить пройденное</a:t>
            </a:r>
          </a:p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Реализовать утилиту: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OpenSymbol" panose="05010000000000000000" pitchFamily="2" charset="2"/>
                <a:cs typeface="Courier New" panose="02070309020205020404" pitchFamily="49" charset="0"/>
              </a:rPr>
              <a:t>лочный шифр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29830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920</Words>
  <Application>Microsoft Office PowerPoint</Application>
  <PresentationFormat>On-screen Show (16:9)</PresentationFormat>
  <Paragraphs>182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Courier New</vt:lpstr>
      <vt:lpstr>Roboto</vt:lpstr>
      <vt:lpstr>Arial</vt:lpstr>
      <vt:lpstr>Material</vt:lpstr>
      <vt:lpstr>Mассивы. Алгоритмические приемы</vt:lpstr>
      <vt:lpstr>Актуализация </vt:lpstr>
      <vt:lpstr>Типы и структуры данных, управляющие конструкции. Различия</vt:lpstr>
      <vt:lpstr>1. Для каждого значения укажите подходящий тип в Java:</vt:lpstr>
      <vt:lpstr>1. Для каждого значения укажите подходящий тип в Java (ответ):</vt:lpstr>
      <vt:lpstr>2. Перевод с Python на Java</vt:lpstr>
      <vt:lpstr>2. Перевод с Python на Java (ответ)</vt:lpstr>
      <vt:lpstr>3. Перевод с Pascal на Python</vt:lpstr>
      <vt:lpstr>3. Перевод с Pascal на Python (ответ)</vt:lpstr>
      <vt:lpstr>4. Какой тип в Java подходит для дробного числа?</vt:lpstr>
      <vt:lpstr>5. В Python тип для True/False — это:</vt:lpstr>
      <vt:lpstr>6. В 1С нет разделения на целые и дробные. Как называется общий тип?</vt:lpstr>
      <vt:lpstr>7. Какой тип в Java используется для строки?</vt:lpstr>
      <vt:lpstr>8. Что означает статическая типизация?</vt:lpstr>
      <vt:lpstr>9. Сопоставьте</vt:lpstr>
      <vt:lpstr>9. Сопоставьте (ответ)</vt:lpstr>
      <vt:lpstr>10. Перевод с Pascal на Java</vt:lpstr>
      <vt:lpstr>Обновление массива на месте</vt:lpstr>
      <vt:lpstr>Пример. Сортировка</vt:lpstr>
      <vt:lpstr>Пример. Задача 5: Переместить нули в конец </vt:lpstr>
      <vt:lpstr>Два указателя – левый и правый</vt:lpstr>
      <vt:lpstr>Циклический сдвиг</vt:lpstr>
      <vt:lpstr>Циклический сдвиг</vt:lpstr>
      <vt:lpstr>Шифр Цезаря и таблица ASCII</vt:lpstr>
      <vt:lpstr>Шифр Цезаря и таблица ASCII</vt:lpstr>
      <vt:lpstr>Шифр Цезаря и таблица ASCII</vt:lpstr>
      <vt:lpstr>Алгоритм Шифр Цезаря. Вариант 1</vt:lpstr>
      <vt:lpstr>Алгоритм Шифр Цезаря. Вариант 2</vt:lpstr>
      <vt:lpstr>Матрицы</vt:lpstr>
      <vt:lpstr>Транспонирование</vt:lpstr>
      <vt:lpstr>Транспонирование</vt:lpstr>
      <vt:lpstr>Поворот матрицы 90 по часовой </vt:lpstr>
      <vt:lpstr>Avg Pooling </vt:lpstr>
      <vt:lpstr>Avg Pooling</vt:lpstr>
      <vt:lpstr>RLE (Run-Length Encoding)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данных</dc:title>
  <cp:lastModifiedBy>Vadim Gabderakhmanov</cp:lastModifiedBy>
  <cp:revision>145</cp:revision>
  <dcterms:modified xsi:type="dcterms:W3CDTF">2026-09-30T21:27:00Z</dcterms:modified>
</cp:coreProperties>
</file>