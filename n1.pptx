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30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</p:sldIdLst>
  <p:sldSz cx="9144000" cy="5143500" type="screen16x9"/>
  <p:notesSz cx="6858000" cy="9144000"/>
  <p:embeddedFontLst>
    <p:embeddedFont>
      <p:font typeface="Amatic SC" panose="020B0604020202020204" charset="-79"/>
      <p:regular r:id="rId31"/>
      <p:bold r:id="rId32"/>
    </p:embeddedFont>
    <p:embeddedFont>
      <p:font typeface="Roboto Mono" panose="020B0604020202020204" charset="0"/>
      <p:regular r:id="rId33"/>
      <p:bold r:id="rId34"/>
      <p:italic r:id="rId35"/>
      <p:boldItalic r:id="rId36"/>
    </p:embeddedFont>
    <p:embeddedFont>
      <p:font typeface="Source Code Pro" panose="020B0509030403020204" pitchFamily="49" charset="0"/>
      <p:regular r:id="rId37"/>
      <p:bold r:id="rId38"/>
      <p:italic r:id="rId39"/>
      <p:boldItalic r:id="rId4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2" d="100"/>
          <a:sy n="122" d="100"/>
        </p:scale>
        <p:origin x="322" y="8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9.fntdata"/><Relationship Id="rId21" Type="http://schemas.openxmlformats.org/officeDocument/2006/relationships/slide" Target="slides/slide20.xml"/><Relationship Id="rId34" Type="http://schemas.openxmlformats.org/officeDocument/2006/relationships/font" Target="fonts/font4.fntdata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2.fntdata"/><Relationship Id="rId37" Type="http://schemas.openxmlformats.org/officeDocument/2006/relationships/font" Target="fonts/font7.fntdata"/><Relationship Id="rId40" Type="http://schemas.openxmlformats.org/officeDocument/2006/relationships/font" Target="fonts/font10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6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.fntdata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font" Target="fonts/font5.fntdata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3.fntdata"/><Relationship Id="rId38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" name="Google Shape;54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2ff343062f3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2ff343062f3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ff343062f3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ff343062f3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2ff343062f3_0_3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2ff343062f3_0_3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2ff343062f3_0_3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2ff343062f3_0_3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2ff343062f3_0_3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2ff343062f3_0_3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2ff343062f3_0_3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2ff343062f3_0_3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2ff343062f3_0_3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2ff343062f3_0_3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2ff343062f3_0_3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2ff343062f3_0_3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2ff343062f3_0_3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2ff343062f3_0_3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2ff343062f3_0_3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2ff343062f3_0_3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2ff343062f3_0_3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2ff343062f3_0_3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2ff343062f3_0_3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2ff343062f3_0_3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2ff343062f3_0_3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2ff343062f3_0_3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2ff343062f3_0_3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2ff343062f3_0_3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2ff343062f3_0_4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2ff343062f3_0_4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2ff343062f3_0_4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2ff343062f3_0_4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2ff343062f3_0_4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2ff343062f3_0_4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2ff343062f3_0_4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2ff343062f3_0_4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2ff343062f3_0_4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2ff343062f3_0_4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2ff343062f3_0_4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2ff343062f3_0_4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2ff343062f3_0_4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2ff343062f3_0_4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2ff343062f3_0_4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2ff343062f3_0_4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2ff343062f3_0_4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2ff343062f3_0_4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2ff343062f3_0_4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2ff343062f3_0_4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2ff343062f3_0_4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2ff343062f3_0_4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2ff343062f3_0_4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2ff343062f3_0_4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2ff343062f3_0_4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2ff343062f3_0_4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dk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3429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311700" y="392150"/>
            <a:ext cx="8520600" cy="269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311700" y="3890400"/>
            <a:ext cx="8520600" cy="70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 b="1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 b="1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 b="1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 b="1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 b="1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 b="1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 b="1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 b="1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 b="1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>
            <a:spLocks noGrp="1"/>
          </p:cNvSpPr>
          <p:nvPr>
            <p:ph type="title"/>
          </p:nvPr>
        </p:nvSpPr>
        <p:spPr>
          <a:xfrm>
            <a:off x="2802750" y="802500"/>
            <a:ext cx="3538500" cy="3538500"/>
          </a:xfrm>
          <a:prstGeom prst="rect">
            <a:avLst/>
          </a:prstGeom>
          <a:solidFill>
            <a:srgbClr val="FFFFFF"/>
          </a:solidFill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body" idx="1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>
            <a:spLocks noGrp="1"/>
          </p:cNvSpPr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1"/>
          </p:nvPr>
        </p:nvSpPr>
        <p:spPr>
          <a:xfrm>
            <a:off x="311700" y="1228675"/>
            <a:ext cx="3999900" cy="33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body" idx="2"/>
          </p:nvPr>
        </p:nvSpPr>
        <p:spPr>
          <a:xfrm>
            <a:off x="4832400" y="1228675"/>
            <a:ext cx="3999900" cy="33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>
            <a:spLocks noGrp="1"/>
          </p:cNvSpPr>
          <p:nvPr>
            <p:ph type="title"/>
          </p:nvPr>
        </p:nvSpPr>
        <p:spPr>
          <a:xfrm>
            <a:off x="304800" y="309350"/>
            <a:ext cx="8537700" cy="74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28" name="Google Shape;28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2" name="Google Shape;32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4"/>
        </a:solidFill>
        <a:effectLst/>
      </p:bgPr>
    </p:bg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38" name="Google Shape;38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285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9" name="Google Shape;39;p9"/>
          <p:cNvSpPr txBox="1">
            <a:spLocks noGrp="1"/>
          </p:cNvSpPr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ubTitle" idx="1"/>
          </p:nvPr>
        </p:nvSpPr>
        <p:spPr>
          <a:xfrm>
            <a:off x="265500" y="2845223"/>
            <a:ext cx="4045200" cy="134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>
            <a:spLocks noGrp="1"/>
          </p:cNvSpPr>
          <p:nvPr>
            <p:ph type="body" idx="1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matic SC"/>
              <a:buNone/>
              <a:defRPr sz="2400" b="1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</a:lstStyle>
          <a:p>
            <a:endParaRPr/>
          </a:p>
        </p:txBody>
      </p:sp>
      <p:sp>
        <p:nvSpPr>
          <p:cNvPr id="45" name="Google Shape;45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240275"/>
            <a:ext cx="8520600" cy="198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9pPr>
          </a:lstStyle>
          <a:p>
            <a:r>
              <a:t>xx%</a:t>
            </a:r>
          </a:p>
        </p:txBody>
      </p:sp>
      <p:sp>
        <p:nvSpPr>
          <p:cNvPr id="48" name="Google Shape;48;p11"/>
          <p:cNvSpPr txBox="1">
            <a:spLocks noGrp="1"/>
          </p:cNvSpPr>
          <p:nvPr>
            <p:ph type="body" idx="1"/>
          </p:nvPr>
        </p:nvSpPr>
        <p:spPr>
          <a:xfrm>
            <a:off x="311700" y="33046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9pPr>
          </a:lstStyle>
          <a:p>
            <a:endParaRPr/>
          </a:p>
        </p:txBody>
      </p:sp>
      <p:sp>
        <p:nvSpPr>
          <p:cNvPr id="49" name="Google Shape;49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beach-day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sz="4200" b="1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sz="4200" b="1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sz="4200" b="1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sz="4200" b="1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sz="4200" b="1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sz="4200" b="1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sz="4200" b="1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sz="4200" b="1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sz="4200" b="1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ource Code Pro"/>
              <a:buChar char="●"/>
              <a:defRPr sz="18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0.jp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>
            <a:spLocks noGrp="1"/>
          </p:cNvSpPr>
          <p:nvPr>
            <p:ph type="ctrTitle"/>
          </p:nvPr>
        </p:nvSpPr>
        <p:spPr>
          <a:xfrm>
            <a:off x="311700" y="392150"/>
            <a:ext cx="8520600" cy="269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Введение в Java</a:t>
            </a:r>
            <a:endParaRPr dirty="0"/>
          </a:p>
        </p:txBody>
      </p:sp>
      <p:sp>
        <p:nvSpPr>
          <p:cNvPr id="57" name="Google Shape;57;p13"/>
          <p:cNvSpPr txBox="1">
            <a:spLocks noGrp="1"/>
          </p:cNvSpPr>
          <p:nvPr>
            <p:ph type="subTitle" idx="1"/>
          </p:nvPr>
        </p:nvSpPr>
        <p:spPr>
          <a:xfrm>
            <a:off x="311700" y="3890400"/>
            <a:ext cx="8520600" cy="70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>
            <a:spLocks noGrp="1"/>
          </p:cNvSpPr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Java</a:t>
            </a:r>
            <a:endParaRPr/>
          </a:p>
        </p:txBody>
      </p:sp>
      <p:sp>
        <p:nvSpPr>
          <p:cNvPr id="69" name="Google Shape;69;p15"/>
          <p:cNvSpPr txBox="1">
            <a:spLocks noGrp="1"/>
          </p:cNvSpPr>
          <p:nvPr>
            <p:ph type="body" idx="1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</a:pPr>
            <a:r>
              <a:rPr lang="ru">
                <a:solidFill>
                  <a:schemeClr val="accent1"/>
                </a:solidFill>
              </a:rPr>
              <a:t>Java — строго типизированный объектно-ориентированный язык программирования общего назначения, разработанный компанией Sun Microsystems. Автором считается Джеймс Гослинг.</a:t>
            </a:r>
            <a:endParaRPr>
              <a:solidFill>
                <a:schemeClr val="accent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</a:pPr>
            <a:r>
              <a:rPr lang="ru">
                <a:solidFill>
                  <a:schemeClr val="accent1"/>
                </a:solidFill>
              </a:rPr>
              <a:t>Java используется для разработки мобильных приложений, веб-приложений, настольных приложений, игр и многого другого.</a:t>
            </a:r>
            <a:endParaRPr>
              <a:solidFill>
                <a:schemeClr val="accent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</a:pPr>
            <a:r>
              <a:rPr lang="ru">
                <a:solidFill>
                  <a:schemeClr val="accent1"/>
                </a:solidFill>
              </a:rPr>
              <a:t>Ключевой особенностью языка Java является то, что его код сначала транслируется в байт-код, независимый от платформы. А затем этот байт-код выполняется виртуальной машиной JVM (Java Virtual Machine).</a:t>
            </a:r>
            <a:endParaRPr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>
            <a:spLocks noGrp="1"/>
          </p:cNvSpPr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Java. JDK</a:t>
            </a:r>
            <a:endParaRPr/>
          </a:p>
        </p:txBody>
      </p:sp>
      <p:sp>
        <p:nvSpPr>
          <p:cNvPr id="75" name="Google Shape;75;p16"/>
          <p:cNvSpPr txBox="1">
            <a:spLocks noGrp="1"/>
          </p:cNvSpPr>
          <p:nvPr>
            <p:ph type="body" idx="1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</a:pPr>
            <a:r>
              <a:rPr lang="ru">
                <a:solidFill>
                  <a:schemeClr val="accent1"/>
                </a:solidFill>
              </a:rPr>
              <a:t>JDK, или Java Development Kit — это набор инструментов для разработки на языке Java. В него входят все компоненты, необходимые для того, чтобы программировать на этом языке. Он позволяет компилировать, то есть «собирать», и запускать написанный код.</a:t>
            </a:r>
            <a:endParaRPr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>
            <a:spLocks noGrp="1"/>
          </p:cNvSpPr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Java. JDK. Состав</a:t>
            </a:r>
            <a:endParaRPr/>
          </a:p>
        </p:txBody>
      </p:sp>
      <p:sp>
        <p:nvSpPr>
          <p:cNvPr id="81" name="Google Shape;81;p17"/>
          <p:cNvSpPr txBox="1">
            <a:spLocks noGrp="1"/>
          </p:cNvSpPr>
          <p:nvPr>
            <p:ph type="body" idx="1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</a:pPr>
            <a:r>
              <a:rPr lang="ru">
                <a:solidFill>
                  <a:schemeClr val="accent1"/>
                </a:solidFill>
              </a:rPr>
              <a:t>Компилятор (javac)</a:t>
            </a:r>
            <a:endParaRPr>
              <a:solidFill>
                <a:schemeClr val="accent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</a:pPr>
            <a:r>
              <a:rPr lang="ru">
                <a:solidFill>
                  <a:schemeClr val="accent1"/>
                </a:solidFill>
              </a:rPr>
              <a:t>Документация</a:t>
            </a:r>
            <a:endParaRPr>
              <a:solidFill>
                <a:schemeClr val="accent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</a:pPr>
            <a:r>
              <a:rPr lang="ru">
                <a:solidFill>
                  <a:schemeClr val="accent1"/>
                </a:solidFill>
              </a:rPr>
              <a:t>Примеры</a:t>
            </a:r>
            <a:endParaRPr>
              <a:solidFill>
                <a:schemeClr val="accent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</a:pPr>
            <a:r>
              <a:rPr lang="ru">
                <a:solidFill>
                  <a:schemeClr val="accent1"/>
                </a:solidFill>
              </a:rPr>
              <a:t>Исполнительная система Java (Java Runtime Environment - JRE)</a:t>
            </a:r>
            <a:endParaRPr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 txBox="1">
            <a:spLocks noGrp="1"/>
          </p:cNvSpPr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JRE. Состав</a:t>
            </a:r>
            <a:endParaRPr/>
          </a:p>
        </p:txBody>
      </p:sp>
      <p:sp>
        <p:nvSpPr>
          <p:cNvPr id="88" name="Google Shape;88;p18"/>
          <p:cNvSpPr txBox="1">
            <a:spLocks noGrp="1"/>
          </p:cNvSpPr>
          <p:nvPr>
            <p:ph type="body" idx="1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</a:pPr>
            <a:r>
              <a:rPr lang="ru">
                <a:solidFill>
                  <a:schemeClr val="accent1"/>
                </a:solidFill>
              </a:rPr>
              <a:t>Виртуальная машина Java</a:t>
            </a:r>
            <a:endParaRPr>
              <a:solidFill>
                <a:schemeClr val="accent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</a:pPr>
            <a:r>
              <a:rPr lang="ru">
                <a:solidFill>
                  <a:schemeClr val="accent1"/>
                </a:solidFill>
              </a:rPr>
              <a:t>Библиотеки Java</a:t>
            </a:r>
            <a:endParaRPr>
              <a:solidFill>
                <a:schemeClr val="accent1"/>
              </a:solidFill>
            </a:endParaRPr>
          </a:p>
        </p:txBody>
      </p:sp>
      <p:pic>
        <p:nvPicPr>
          <p:cNvPr id="89" name="Google Shape;8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28388" y="1979800"/>
            <a:ext cx="5348525" cy="30085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9"/>
          <p:cNvSpPr txBox="1">
            <a:spLocks noGrp="1"/>
          </p:cNvSpPr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JDK. Вариации</a:t>
            </a:r>
            <a:endParaRPr/>
          </a:p>
        </p:txBody>
      </p:sp>
      <p:sp>
        <p:nvSpPr>
          <p:cNvPr id="95" name="Google Shape;95;p19"/>
          <p:cNvSpPr txBox="1">
            <a:spLocks noGrp="1"/>
          </p:cNvSpPr>
          <p:nvPr>
            <p:ph type="body" idx="1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20000"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</a:pPr>
            <a:r>
              <a:rPr lang="ru" b="1">
                <a:solidFill>
                  <a:schemeClr val="accent1"/>
                </a:solidFill>
              </a:rPr>
              <a:t>JDK SE</a:t>
            </a:r>
            <a:r>
              <a:rPr lang="ru">
                <a:solidFill>
                  <a:schemeClr val="accent1"/>
                </a:solidFill>
              </a:rPr>
              <a:t>. Это Standard Edition, стандартная версия, которой пользуется большинство разработчиков.</a:t>
            </a:r>
            <a:endParaRPr>
              <a:solidFill>
                <a:schemeClr val="accent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</a:pPr>
            <a:r>
              <a:rPr lang="ru" b="1">
                <a:solidFill>
                  <a:schemeClr val="accent1"/>
                </a:solidFill>
              </a:rPr>
              <a:t>JDK EE</a:t>
            </a:r>
            <a:r>
              <a:rPr lang="ru">
                <a:solidFill>
                  <a:schemeClr val="accent1"/>
                </a:solidFill>
              </a:rPr>
              <a:t>. Это Enterprise Edition, версия для корпоративной разработки. Кроме стандартных инструментов в нее входят дополнительные, которые облегчают создание энтерпрайз-приложений. </a:t>
            </a:r>
            <a:endParaRPr>
              <a:solidFill>
                <a:schemeClr val="accent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</a:pPr>
            <a:r>
              <a:rPr lang="ru" b="1">
                <a:solidFill>
                  <a:schemeClr val="accent1"/>
                </a:solidFill>
              </a:rPr>
              <a:t>JDK ME</a:t>
            </a:r>
            <a:r>
              <a:rPr lang="ru">
                <a:solidFill>
                  <a:schemeClr val="accent1"/>
                </a:solidFill>
              </a:rPr>
              <a:t>. Это Micro Edition или Mobile Edition, версия для разработки под мобильные приложения. В нее входят все инструменты SE и дополнительные возможности для устройств, ограниченных в памяти и мощности.</a:t>
            </a:r>
            <a:endParaRPr>
              <a:solidFill>
                <a:schemeClr val="accent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0"/>
          <p:cNvSpPr txBox="1">
            <a:spLocks noGrp="1"/>
          </p:cNvSpPr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Hello Java</a:t>
            </a:r>
            <a:endParaRPr/>
          </a:p>
        </p:txBody>
      </p:sp>
      <p:sp>
        <p:nvSpPr>
          <p:cNvPr id="101" name="Google Shape;101;p20"/>
          <p:cNvSpPr txBox="1">
            <a:spLocks noGrp="1"/>
          </p:cNvSpPr>
          <p:nvPr>
            <p:ph type="body" idx="1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02" name="Google Shape;102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4238" y="1249188"/>
            <a:ext cx="8175526" cy="3299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1"/>
          <p:cNvSpPr txBox="1">
            <a:spLocks noGrp="1"/>
          </p:cNvSpPr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Переменные и константы</a:t>
            </a:r>
            <a:endParaRPr/>
          </a:p>
        </p:txBody>
      </p:sp>
      <p:sp>
        <p:nvSpPr>
          <p:cNvPr id="108" name="Google Shape;108;p21"/>
          <p:cNvSpPr txBox="1">
            <a:spLocks noGrp="1"/>
          </p:cNvSpPr>
          <p:nvPr>
            <p:ph type="body" idx="1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тип_данных имя_переменной;</a:t>
            </a:r>
            <a:endParaRPr/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1) целые числа (byte, short, int, long);</a:t>
            </a:r>
            <a:endParaRPr/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2) числа с плавающей точкой (float, double);</a:t>
            </a:r>
            <a:endParaRPr/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3) логический (boolean);</a:t>
            </a:r>
            <a:endParaRPr/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4) символьный (char).</a:t>
            </a:r>
            <a:endParaRPr/>
          </a:p>
          <a:p>
            <a:pPr marL="4572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2"/>
          <p:cNvSpPr txBox="1">
            <a:spLocks noGrp="1"/>
          </p:cNvSpPr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Переменные и константы</a:t>
            </a:r>
            <a:endParaRPr/>
          </a:p>
        </p:txBody>
      </p:sp>
      <p:sp>
        <p:nvSpPr>
          <p:cNvPr id="114" name="Google Shape;114;p22"/>
          <p:cNvSpPr txBox="1">
            <a:spLocks noGrp="1"/>
          </p:cNvSpPr>
          <p:nvPr>
            <p:ph type="body" idx="1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15" name="Google Shape;115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6050" y="1529638"/>
            <a:ext cx="8115300" cy="1590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6050" y="3322025"/>
            <a:ext cx="8730348" cy="895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3"/>
          <p:cNvSpPr txBox="1">
            <a:spLocks noGrp="1"/>
          </p:cNvSpPr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Ввод с консоли</a:t>
            </a:r>
            <a:endParaRPr/>
          </a:p>
        </p:txBody>
      </p:sp>
      <p:sp>
        <p:nvSpPr>
          <p:cNvPr id="122" name="Google Shape;122;p23"/>
          <p:cNvSpPr txBox="1">
            <a:spLocks noGrp="1"/>
          </p:cNvSpPr>
          <p:nvPr>
            <p:ph type="body" idx="1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23" name="Google Shape;123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4023" y="1093850"/>
            <a:ext cx="7019675" cy="397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12625" y="960163"/>
            <a:ext cx="4000500" cy="1038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4"/>
          <p:cNvSpPr txBox="1">
            <a:spLocks noGrp="1"/>
          </p:cNvSpPr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Scanner</a:t>
            </a:r>
            <a:endParaRPr/>
          </a:p>
        </p:txBody>
      </p:sp>
      <p:sp>
        <p:nvSpPr>
          <p:cNvPr id="130" name="Google Shape;130;p24"/>
          <p:cNvSpPr txBox="1">
            <a:spLocks noGrp="1"/>
          </p:cNvSpPr>
          <p:nvPr>
            <p:ph type="body" idx="1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>
                <a:solidFill>
                  <a:schemeClr val="accent1"/>
                </a:solidFill>
              </a:rPr>
              <a:t>Класс Scanner имеет еще ряд методов, которые позволяют получить введенные пользователем значения:</a:t>
            </a:r>
            <a:endParaRPr sz="1400">
              <a:solidFill>
                <a:schemeClr val="accent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400">
                <a:solidFill>
                  <a:schemeClr val="accent1"/>
                </a:solidFill>
              </a:rPr>
              <a:t>next(): считывает введенную строку до первого пробела</a:t>
            </a:r>
            <a:endParaRPr sz="1400">
              <a:solidFill>
                <a:schemeClr val="accent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400">
                <a:solidFill>
                  <a:schemeClr val="accent1"/>
                </a:solidFill>
              </a:rPr>
              <a:t>nextLine(): считывает всю введенную строку</a:t>
            </a:r>
            <a:endParaRPr sz="1400">
              <a:solidFill>
                <a:schemeClr val="accent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400">
                <a:solidFill>
                  <a:schemeClr val="accent1"/>
                </a:solidFill>
              </a:rPr>
              <a:t>nextInt(): считывает введенное число int</a:t>
            </a:r>
            <a:endParaRPr sz="1400">
              <a:solidFill>
                <a:schemeClr val="accent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400">
                <a:solidFill>
                  <a:schemeClr val="accent1"/>
                </a:solidFill>
              </a:rPr>
              <a:t>nextDouble(): считывает введенное число double</a:t>
            </a:r>
            <a:endParaRPr sz="1400">
              <a:solidFill>
                <a:schemeClr val="accent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400">
                <a:solidFill>
                  <a:schemeClr val="accent1"/>
                </a:solidFill>
              </a:rPr>
              <a:t>nextBoolean(): считывает значение boolean</a:t>
            </a:r>
            <a:endParaRPr sz="1400">
              <a:solidFill>
                <a:schemeClr val="accent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400">
                <a:solidFill>
                  <a:schemeClr val="accent1"/>
                </a:solidFill>
              </a:rPr>
              <a:t>nextByte(): считывает введенное число byte</a:t>
            </a:r>
            <a:endParaRPr sz="1400">
              <a:solidFill>
                <a:schemeClr val="accent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400">
                <a:solidFill>
                  <a:schemeClr val="accent1"/>
                </a:solidFill>
              </a:rPr>
              <a:t>nextFloat(): считывает введенное число float</a:t>
            </a:r>
            <a:endParaRPr sz="1400">
              <a:solidFill>
                <a:schemeClr val="accent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400">
                <a:solidFill>
                  <a:schemeClr val="accent1"/>
                </a:solidFill>
              </a:rPr>
              <a:t>nextShort(): считывает введенное число short</a:t>
            </a:r>
            <a:endParaRPr sz="1400">
              <a:solidFill>
                <a:schemeClr val="accent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40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5"/>
          <p:cNvSpPr txBox="1">
            <a:spLocks noGrp="1"/>
          </p:cNvSpPr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Арифметические операции</a:t>
            </a:r>
            <a:endParaRPr/>
          </a:p>
        </p:txBody>
      </p:sp>
      <p:sp>
        <p:nvSpPr>
          <p:cNvPr id="136" name="Google Shape;136;p25"/>
          <p:cNvSpPr txBox="1">
            <a:spLocks noGrp="1"/>
          </p:cNvSpPr>
          <p:nvPr>
            <p:ph type="body" idx="1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37" name="Google Shape;137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1500" y="1093850"/>
            <a:ext cx="5030549" cy="1363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1500" y="2673350"/>
            <a:ext cx="5233750" cy="141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6"/>
          <p:cNvSpPr txBox="1">
            <a:spLocks noGrp="1"/>
          </p:cNvSpPr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Арифметические операции</a:t>
            </a:r>
            <a:endParaRPr/>
          </a:p>
        </p:txBody>
      </p:sp>
      <p:sp>
        <p:nvSpPr>
          <p:cNvPr id="144" name="Google Shape;144;p26"/>
          <p:cNvSpPr txBox="1">
            <a:spLocks noGrp="1"/>
          </p:cNvSpPr>
          <p:nvPr>
            <p:ph type="body" idx="1"/>
          </p:nvPr>
        </p:nvSpPr>
        <p:spPr>
          <a:xfrm>
            <a:off x="311700" y="3556000"/>
            <a:ext cx="8520600" cy="99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ru"/>
              <a:t>Чтобы результат представлял число с плавающей точкой, один из операндов также должен представлять число с плавающей точкой:</a:t>
            </a:r>
            <a:endParaRPr/>
          </a:p>
        </p:txBody>
      </p:sp>
      <p:pic>
        <p:nvPicPr>
          <p:cNvPr id="145" name="Google Shape;145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032800"/>
            <a:ext cx="4050825" cy="1098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6898" y="2314263"/>
            <a:ext cx="4311549" cy="116902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3825" y="4453625"/>
            <a:ext cx="8476351" cy="556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7"/>
          <p:cNvSpPr txBox="1">
            <a:spLocks noGrp="1"/>
          </p:cNvSpPr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Арифметические операции</a:t>
            </a:r>
            <a:endParaRPr/>
          </a:p>
        </p:txBody>
      </p:sp>
      <p:sp>
        <p:nvSpPr>
          <p:cNvPr id="153" name="Google Shape;153;p27"/>
          <p:cNvSpPr txBox="1">
            <a:spLocks noGrp="1"/>
          </p:cNvSpPr>
          <p:nvPr>
            <p:ph type="body" idx="1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54" name="Google Shape;154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8625" y="1093850"/>
            <a:ext cx="3694250" cy="1065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5075" y="2233999"/>
            <a:ext cx="4393936" cy="1329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5075" y="3713775"/>
            <a:ext cx="4393925" cy="1261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8"/>
          <p:cNvSpPr txBox="1">
            <a:spLocks noGrp="1"/>
          </p:cNvSpPr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Арифметические операции</a:t>
            </a:r>
            <a:endParaRPr/>
          </a:p>
        </p:txBody>
      </p:sp>
      <p:sp>
        <p:nvSpPr>
          <p:cNvPr id="162" name="Google Shape;162;p28"/>
          <p:cNvSpPr txBox="1">
            <a:spLocks noGrp="1"/>
          </p:cNvSpPr>
          <p:nvPr>
            <p:ph type="body" idx="1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accent1"/>
                </a:solidFill>
              </a:rPr>
              <a:t>Одни операции имеют больший приоритет, чем другие, и поэтому выполняются вначале. Операции в порядке уменьшения приоритета:</a:t>
            </a:r>
            <a:endParaRPr>
              <a:solidFill>
                <a:schemeClr val="accent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accent1"/>
                </a:solidFill>
              </a:rPr>
              <a:t>++ (постфиксный инкремент), -- (постфиксный декремент)</a:t>
            </a:r>
            <a:endParaRPr>
              <a:solidFill>
                <a:schemeClr val="accent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accent1"/>
                </a:solidFill>
              </a:rPr>
              <a:t>++ (префиксный инкремент), -- (префиксный декремент)</a:t>
            </a:r>
            <a:endParaRPr>
              <a:solidFill>
                <a:schemeClr val="accent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accent1"/>
                </a:solidFill>
              </a:rPr>
              <a:t>* (умножение), / (деление), % (остаток от деления)</a:t>
            </a:r>
            <a:endParaRPr>
              <a:solidFill>
                <a:schemeClr val="accent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accent1"/>
                </a:solidFill>
              </a:rPr>
              <a:t>+ (сложение), - (вычитание)</a:t>
            </a:r>
            <a:endParaRPr>
              <a:solidFill>
                <a:schemeClr val="accent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9"/>
          <p:cNvSpPr txBox="1">
            <a:spLocks noGrp="1"/>
          </p:cNvSpPr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Условные выражения</a:t>
            </a:r>
            <a:endParaRPr/>
          </a:p>
        </p:txBody>
      </p:sp>
      <p:sp>
        <p:nvSpPr>
          <p:cNvPr id="168" name="Google Shape;168;p29"/>
          <p:cNvSpPr txBox="1">
            <a:spLocks noGrp="1"/>
          </p:cNvSpPr>
          <p:nvPr>
            <p:ph type="body" idx="1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69" name="Google Shape;169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4600" y="1228675"/>
            <a:ext cx="5742200" cy="1421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4613" y="2875525"/>
            <a:ext cx="5742169" cy="1421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0"/>
          <p:cNvSpPr txBox="1">
            <a:spLocks noGrp="1"/>
          </p:cNvSpPr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Условные выражения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30"/>
          <p:cNvSpPr txBox="1">
            <a:spLocks noGrp="1"/>
          </p:cNvSpPr>
          <p:nvPr>
            <p:ph type="body" idx="1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77" name="Google Shape;177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699" y="1228674"/>
            <a:ext cx="6083339" cy="1343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2782150"/>
            <a:ext cx="7486650" cy="152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1"/>
          <p:cNvSpPr txBox="1">
            <a:spLocks noGrp="1"/>
          </p:cNvSpPr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Логические операции</a:t>
            </a:r>
            <a:endParaRPr/>
          </a:p>
        </p:txBody>
      </p:sp>
      <p:sp>
        <p:nvSpPr>
          <p:cNvPr id="184" name="Google Shape;184;p31"/>
          <p:cNvSpPr txBox="1">
            <a:spLocks noGrp="1"/>
          </p:cNvSpPr>
          <p:nvPr>
            <p:ph type="body" idx="1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04800" algn="l" rtl="0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lang="ru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c=a|b;</a:t>
            </a:r>
            <a:r>
              <a:rPr lang="ru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(c равно </a:t>
            </a:r>
            <a:r>
              <a:rPr lang="ru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true</a:t>
            </a:r>
            <a:r>
              <a:rPr lang="ru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если либо a, либо b (либо и a, и b) равны </a:t>
            </a:r>
            <a:r>
              <a:rPr lang="ru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true</a:t>
            </a:r>
            <a:r>
              <a:rPr lang="ru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иначе c будет равно </a:t>
            </a:r>
            <a:r>
              <a:rPr lang="ru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false</a:t>
            </a:r>
            <a:r>
              <a:rPr lang="ru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lang="ru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&amp;</a:t>
            </a:r>
            <a:br>
              <a:rPr lang="ru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ru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c=a&amp;b;</a:t>
            </a:r>
            <a:r>
              <a:rPr lang="ru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(c равно </a:t>
            </a:r>
            <a:r>
              <a:rPr lang="ru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true</a:t>
            </a:r>
            <a:r>
              <a:rPr lang="ru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если и a, и b равны </a:t>
            </a:r>
            <a:r>
              <a:rPr lang="ru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true</a:t>
            </a:r>
            <a:r>
              <a:rPr lang="ru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иначе c будет равно </a:t>
            </a:r>
            <a:r>
              <a:rPr lang="ru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false</a:t>
            </a:r>
            <a:r>
              <a:rPr lang="ru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lang="ru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!</a:t>
            </a:r>
            <a:br>
              <a:rPr lang="ru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ru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c=!b;</a:t>
            </a:r>
            <a:r>
              <a:rPr lang="ru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(c равно </a:t>
            </a:r>
            <a:r>
              <a:rPr lang="ru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true</a:t>
            </a:r>
            <a:r>
              <a:rPr lang="ru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если b равно </a:t>
            </a:r>
            <a:r>
              <a:rPr lang="ru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false</a:t>
            </a:r>
            <a:r>
              <a:rPr lang="ru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иначе c будет равно </a:t>
            </a:r>
            <a:r>
              <a:rPr lang="ru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false</a:t>
            </a:r>
            <a:r>
              <a:rPr lang="ru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lang="ru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^</a:t>
            </a:r>
            <a:br>
              <a:rPr lang="ru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ru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c=a^b;</a:t>
            </a:r>
            <a:r>
              <a:rPr lang="ru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(c равно </a:t>
            </a:r>
            <a:r>
              <a:rPr lang="ru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true</a:t>
            </a:r>
            <a:r>
              <a:rPr lang="ru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если либо a, либо b (но не одновременно) равны </a:t>
            </a:r>
            <a:r>
              <a:rPr lang="ru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true</a:t>
            </a:r>
            <a:r>
              <a:rPr lang="ru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иначе c будет равно </a:t>
            </a:r>
            <a:r>
              <a:rPr lang="ru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false</a:t>
            </a:r>
            <a:r>
              <a:rPr lang="ru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lang="ru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||</a:t>
            </a:r>
            <a:br>
              <a:rPr lang="ru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ru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c=a||b;</a:t>
            </a:r>
            <a:r>
              <a:rPr lang="ru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(c равно </a:t>
            </a:r>
            <a:r>
              <a:rPr lang="ru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true</a:t>
            </a:r>
            <a:r>
              <a:rPr lang="ru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если либо a, либо b (либо и a, и b) равны </a:t>
            </a:r>
            <a:r>
              <a:rPr lang="ru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true</a:t>
            </a:r>
            <a:r>
              <a:rPr lang="ru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иначе c будет равно </a:t>
            </a:r>
            <a:r>
              <a:rPr lang="ru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false</a:t>
            </a:r>
            <a:r>
              <a:rPr lang="ru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lang="ru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&amp;&amp;</a:t>
            </a:r>
            <a:br>
              <a:rPr lang="ru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ru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c=a&amp;&amp;b;</a:t>
            </a:r>
            <a:r>
              <a:rPr lang="ru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(c равно </a:t>
            </a:r>
            <a:r>
              <a:rPr lang="ru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true</a:t>
            </a:r>
            <a:r>
              <a:rPr lang="ru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если и a, и b равны </a:t>
            </a:r>
            <a:r>
              <a:rPr lang="ru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true</a:t>
            </a:r>
            <a:r>
              <a:rPr lang="ru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иначе c будет равно </a:t>
            </a:r>
            <a:r>
              <a:rPr lang="ru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false</a:t>
            </a:r>
            <a:r>
              <a:rPr lang="ru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2"/>
          <p:cNvSpPr txBox="1">
            <a:spLocks noGrp="1"/>
          </p:cNvSpPr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Операции присваивания</a:t>
            </a:r>
            <a:endParaRPr/>
          </a:p>
        </p:txBody>
      </p:sp>
      <p:sp>
        <p:nvSpPr>
          <p:cNvPr id="190" name="Google Shape;190;p32"/>
          <p:cNvSpPr txBox="1">
            <a:spLocks noGrp="1"/>
          </p:cNvSpPr>
          <p:nvPr>
            <p:ph type="body" idx="1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91" name="Google Shape;191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9188" y="960888"/>
            <a:ext cx="6772275" cy="399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06950" y="292850"/>
            <a:ext cx="1621050" cy="1621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3"/>
          <p:cNvSpPr txBox="1">
            <a:spLocks noGrp="1"/>
          </p:cNvSpPr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Условные конструкции</a:t>
            </a:r>
            <a:endParaRPr/>
          </a:p>
        </p:txBody>
      </p:sp>
      <p:sp>
        <p:nvSpPr>
          <p:cNvPr id="198" name="Google Shape;198;p33"/>
          <p:cNvSpPr txBox="1">
            <a:spLocks noGrp="1"/>
          </p:cNvSpPr>
          <p:nvPr>
            <p:ph type="body" idx="1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99" name="Google Shape;199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6988" y="1006225"/>
            <a:ext cx="8356175" cy="38560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4"/>
          <p:cNvSpPr txBox="1">
            <a:spLocks noGrp="1"/>
          </p:cNvSpPr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Условные конструкции</a:t>
            </a:r>
            <a:endParaRPr/>
          </a:p>
        </p:txBody>
      </p:sp>
      <p:sp>
        <p:nvSpPr>
          <p:cNvPr id="205" name="Google Shape;205;p34"/>
          <p:cNvSpPr txBox="1">
            <a:spLocks noGrp="1"/>
          </p:cNvSpPr>
          <p:nvPr>
            <p:ph type="body" idx="1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206" name="Google Shape;206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9527" y="1028550"/>
            <a:ext cx="5641451" cy="4027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5"/>
          <p:cNvSpPr txBox="1">
            <a:spLocks noGrp="1"/>
          </p:cNvSpPr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35"/>
          <p:cNvSpPr txBox="1">
            <a:spLocks noGrp="1"/>
          </p:cNvSpPr>
          <p:nvPr>
            <p:ph type="body" idx="1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213" name="Google Shape;213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69950" y="177375"/>
            <a:ext cx="3338951" cy="4788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6"/>
          <p:cNvSpPr txBox="1">
            <a:spLocks noGrp="1"/>
          </p:cNvSpPr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Тернарная операция</a:t>
            </a:r>
            <a:endParaRPr/>
          </a:p>
        </p:txBody>
      </p:sp>
      <p:sp>
        <p:nvSpPr>
          <p:cNvPr id="219" name="Google Shape;219;p36"/>
          <p:cNvSpPr txBox="1">
            <a:spLocks noGrp="1"/>
          </p:cNvSpPr>
          <p:nvPr>
            <p:ph type="body" idx="1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accent1"/>
                </a:solidFill>
              </a:rPr>
              <a:t>[1 операнд (условие)] ? [2 операнд] : [3 операнд]</a:t>
            </a:r>
            <a:endParaRPr>
              <a:solidFill>
                <a:schemeClr val="accent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>
              <a:solidFill>
                <a:schemeClr val="accent1"/>
              </a:solidFill>
            </a:endParaRPr>
          </a:p>
        </p:txBody>
      </p:sp>
      <p:pic>
        <p:nvPicPr>
          <p:cNvPr id="220" name="Google Shape;220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4363" y="2112950"/>
            <a:ext cx="6943725" cy="1571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7"/>
          <p:cNvSpPr txBox="1">
            <a:spLocks noGrp="1"/>
          </p:cNvSpPr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Циклы</a:t>
            </a:r>
            <a:endParaRPr/>
          </a:p>
        </p:txBody>
      </p:sp>
      <p:sp>
        <p:nvSpPr>
          <p:cNvPr id="226" name="Google Shape;226;p37"/>
          <p:cNvSpPr txBox="1">
            <a:spLocks noGrp="1"/>
          </p:cNvSpPr>
          <p:nvPr>
            <p:ph type="body" idx="1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for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while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do...while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227" name="Google Shape;227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46800" y="1404725"/>
            <a:ext cx="3810000" cy="2857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8"/>
          <p:cNvSpPr txBox="1">
            <a:spLocks noGrp="1"/>
          </p:cNvSpPr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FOR</a:t>
            </a:r>
            <a:endParaRPr/>
          </a:p>
        </p:txBody>
      </p:sp>
      <p:sp>
        <p:nvSpPr>
          <p:cNvPr id="233" name="Google Shape;233;p38"/>
          <p:cNvSpPr txBox="1">
            <a:spLocks noGrp="1"/>
          </p:cNvSpPr>
          <p:nvPr>
            <p:ph type="body" idx="1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234" name="Google Shape;234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688" y="1093851"/>
            <a:ext cx="7808676" cy="856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7013" y="2126550"/>
            <a:ext cx="7322449" cy="1088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3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75400" y="3286088"/>
            <a:ext cx="5867400" cy="1457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9"/>
          <p:cNvSpPr txBox="1">
            <a:spLocks noGrp="1"/>
          </p:cNvSpPr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DO</a:t>
            </a:r>
            <a:endParaRPr/>
          </a:p>
        </p:txBody>
      </p:sp>
      <p:sp>
        <p:nvSpPr>
          <p:cNvPr id="242" name="Google Shape;242;p39"/>
          <p:cNvSpPr txBox="1">
            <a:spLocks noGrp="1"/>
          </p:cNvSpPr>
          <p:nvPr>
            <p:ph type="body" idx="1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244" name="Google Shape;244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39763" y="2273988"/>
            <a:ext cx="3876675" cy="1800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40"/>
          <p:cNvSpPr txBox="1">
            <a:spLocks noGrp="1"/>
          </p:cNvSpPr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while</a:t>
            </a:r>
            <a:endParaRPr/>
          </a:p>
        </p:txBody>
      </p:sp>
      <p:sp>
        <p:nvSpPr>
          <p:cNvPr id="250" name="Google Shape;250;p40"/>
          <p:cNvSpPr txBox="1">
            <a:spLocks noGrp="1"/>
          </p:cNvSpPr>
          <p:nvPr>
            <p:ph type="body" idx="1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251" name="Google Shape;251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44238" y="1671625"/>
            <a:ext cx="3876675" cy="1800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41"/>
          <p:cNvSpPr txBox="1">
            <a:spLocks noGrp="1"/>
          </p:cNvSpPr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Операторы continue и break</a:t>
            </a:r>
            <a:endParaRPr/>
          </a:p>
        </p:txBody>
      </p:sp>
      <p:sp>
        <p:nvSpPr>
          <p:cNvPr id="257" name="Google Shape;257;p41"/>
          <p:cNvSpPr txBox="1">
            <a:spLocks noGrp="1"/>
          </p:cNvSpPr>
          <p:nvPr>
            <p:ph type="body" idx="1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258" name="Google Shape;258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88250" y="1054500"/>
            <a:ext cx="4038600" cy="1562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60575" y="2755900"/>
            <a:ext cx="4114800" cy="1562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each Day">
  <a:themeElements>
    <a:clrScheme name="Beach Day">
      <a:dk1>
        <a:srgbClr val="00FDC8"/>
      </a:dk1>
      <a:lt1>
        <a:srgbClr val="FFFFFF"/>
      </a:lt1>
      <a:dk2>
        <a:srgbClr val="666666"/>
      </a:dk2>
      <a:lt2>
        <a:srgbClr val="EEEEEE"/>
      </a:lt2>
      <a:accent1>
        <a:srgbClr val="212121"/>
      </a:accent1>
      <a:accent2>
        <a:srgbClr val="455A64"/>
      </a:accent2>
      <a:accent3>
        <a:srgbClr val="78909C"/>
      </a:accent3>
      <a:accent4>
        <a:srgbClr val="7C7CE0"/>
      </a:accent4>
      <a:accent5>
        <a:srgbClr val="DB4437"/>
      </a:accent5>
      <a:accent6>
        <a:srgbClr val="F6CD4C"/>
      </a:accent6>
      <a:hlink>
        <a:srgbClr val="DB4437"/>
      </a:hlink>
      <a:folHlink>
        <a:srgbClr val="DB443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660</Words>
  <Application>Microsoft Office PowerPoint</Application>
  <PresentationFormat>On-screen Show (16:9)</PresentationFormat>
  <Paragraphs>70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3" baseType="lpstr">
      <vt:lpstr>Amatic SC</vt:lpstr>
      <vt:lpstr>Source Code Pro</vt:lpstr>
      <vt:lpstr>Roboto Mono</vt:lpstr>
      <vt:lpstr>Arial</vt:lpstr>
      <vt:lpstr>Beach Day</vt:lpstr>
      <vt:lpstr>Введение в Java</vt:lpstr>
      <vt:lpstr>Java</vt:lpstr>
      <vt:lpstr>Java. JDK</vt:lpstr>
      <vt:lpstr>Java. JDK. Состав</vt:lpstr>
      <vt:lpstr>JRE. Состав</vt:lpstr>
      <vt:lpstr>JDK. Вариации</vt:lpstr>
      <vt:lpstr>Hello Java</vt:lpstr>
      <vt:lpstr>Переменные и константы</vt:lpstr>
      <vt:lpstr>Переменные и константы</vt:lpstr>
      <vt:lpstr>Ввод с консоли</vt:lpstr>
      <vt:lpstr>Scanner</vt:lpstr>
      <vt:lpstr>Арифметические операции</vt:lpstr>
      <vt:lpstr>Арифметические операции</vt:lpstr>
      <vt:lpstr>Арифметические операции</vt:lpstr>
      <vt:lpstr>Арифметические операции</vt:lpstr>
      <vt:lpstr>Условные выражения</vt:lpstr>
      <vt:lpstr>Условные выражения </vt:lpstr>
      <vt:lpstr>Логические операции</vt:lpstr>
      <vt:lpstr>Операции присваивания</vt:lpstr>
      <vt:lpstr>Условные конструкции</vt:lpstr>
      <vt:lpstr>Условные конструкции</vt:lpstr>
      <vt:lpstr>PowerPoint Presentation</vt:lpstr>
      <vt:lpstr>Тернарная операция</vt:lpstr>
      <vt:lpstr>Циклы</vt:lpstr>
      <vt:lpstr>FOR</vt:lpstr>
      <vt:lpstr>DO</vt:lpstr>
      <vt:lpstr>while</vt:lpstr>
      <vt:lpstr>Операторы continue и break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Введение в Java</dc:title>
  <cp:lastModifiedBy>Vadim Gabderakhmanov</cp:lastModifiedBy>
  <cp:revision>1</cp:revision>
  <dcterms:modified xsi:type="dcterms:W3CDTF">2026-09-25T21:08:43Z</dcterms:modified>
</cp:coreProperties>
</file>