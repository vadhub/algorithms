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94" r:id="rId3"/>
    <p:sldId id="313" r:id="rId4"/>
    <p:sldId id="314" r:id="rId5"/>
    <p:sldId id="319" r:id="rId6"/>
    <p:sldId id="315" r:id="rId7"/>
    <p:sldId id="316" r:id="rId8"/>
    <p:sldId id="317" r:id="rId9"/>
    <p:sldId id="310" r:id="rId10"/>
    <p:sldId id="311" r:id="rId11"/>
    <p:sldId id="312" r:id="rId12"/>
    <p:sldId id="318" r:id="rId13"/>
  </p:sldIdLst>
  <p:sldSz cx="9144000" cy="5143500" type="screen16x9"/>
  <p:notesSz cx="6858000" cy="9144000"/>
  <p:embeddedFontLst>
    <p:embeddedFont>
      <p:font typeface="Roboto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26A4"/>
    <a:srgbClr val="B76B01"/>
    <a:srgbClr val="649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Алгоритмическая сложность. Сортировка пузырьком, бинарный поиск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C1FC-D4F4-47F9-BC30-452189D0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Актуализация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11EA7-7DD3-44EC-B774-4E8B09F97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Что делает оператор %?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Что такое операция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swapping?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Что делает эта операция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((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shiftMain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% 26) + 26) % 26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?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Как написать программу на нахождении двух уникальных числа в массиве, где не уникальные числа встречаются парами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?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71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DFEE-954F-4E4E-B47B-28100369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Алгоритмическая сложность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Big O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E52F-6E6C-4978-81FB-46C77984A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Big O - это термин из области анализа сложности алгоритмов и структур данных в информатике. Он используется для оценки верхней границы (наихудшего случая), временной сложности алгоритма.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endParaRPr lang="ru-RU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943C9-9391-4863-A121-3947EA74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00" y="2988900"/>
            <a:ext cx="3830400" cy="21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4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DFEE-954F-4E4E-B47B-28100369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Алгоритмическая сложность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Big O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E52F-6E6C-4978-81FB-46C77984A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O(1): Константная сложность.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Время выполнения алгоритма не зависит от размера входных данных. Например, доступ к элементу массива по индексу.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O(n): Линейная сложность.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Время выполнения алгоритма пропорционально размеру входных данных. Например, просмотр всех элементов в массиве.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O(log n): Логарифмическая сложность.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Время выполнения алгоритма растет медленно с увеличением размера входных данных. Например, бинарный поиск в отсортированном массиве.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O(n^2): Квадратичная сложность.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Время выполнения алгоритма зависит от квадрата размера входных данных. Например, сортировка пузырьком (bubble sort).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21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DFEE-954F-4E4E-B47B-28100369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Алгоритмическая сложность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Big O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E52F-6E6C-4978-81FB-46C77984A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Big O - это термин из области анализа сложности алгоритмов и структур данных в информатике. Он используется для оценки верхней границы (наихудшего случая), временной сложности алгоритма.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endParaRPr lang="ru-RU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88A18-1F75-476B-B3A8-452A44E4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4663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4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DFEE-954F-4E4E-B47B-28100369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O(1): </a:t>
            </a:r>
            <a:r>
              <a:rPr lang="ru-RU" dirty="0"/>
              <a:t>Константная сложность.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E52F-6E6C-4978-81FB-46C77984A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O(1): Константная сложность.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Время выполнения алгоритма не зависит от размера входных данных. Например, доступ к элементу массива по индексу.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4ABC5-5A56-46C3-91B4-1D846FC5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507" y="2871036"/>
            <a:ext cx="3343742" cy="1533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D12E2-C035-42F8-9FFB-FC6CAAC1D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66" y="2937720"/>
            <a:ext cx="3991532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8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DFEE-954F-4E4E-B47B-28100369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O(n): </a:t>
            </a:r>
            <a:r>
              <a:rPr lang="ru-RU" dirty="0"/>
              <a:t>Линейная сложность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E52F-6E6C-4978-81FB-46C77984A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O(n): Линейная сложность.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Время выполнения алгоритма пропорционально размеру входных данных.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Если у нас два или более последовательно идущих массива мы считаем это как О(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2n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), отбрасываем младшие члены и считаем как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O(n)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28A07-C1FD-4165-B3A0-271959597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11" y="3371798"/>
            <a:ext cx="4039164" cy="1524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62532A-299D-466E-BFD7-6F47D5A9D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675" y="3650535"/>
            <a:ext cx="3600953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09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DFEE-954F-4E4E-B47B-28100369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O(n^2): Квадратичная сложность.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E52F-6E6C-4978-81FB-46C77984A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O(n^2): Квадратичная сложность.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Время выполнения алгоритма зависит от квадрата размера входных данных.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E5633-E600-44FC-AED7-147D1B5E2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90" y="2682310"/>
            <a:ext cx="3753374" cy="771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7D3AB2-6F49-470A-8E0F-4AEAF4472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4056924"/>
            <a:ext cx="3820058" cy="781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C4EBF3-4D90-4AA3-BE84-B6703533AC99}"/>
              </a:ext>
            </a:extLst>
          </p:cNvPr>
          <p:cNvSpPr txBox="1"/>
          <p:nvPr/>
        </p:nvSpPr>
        <p:spPr>
          <a:xfrm>
            <a:off x="914399" y="3601545"/>
            <a:ext cx="3413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Вложенные циклы не всегда </a:t>
            </a:r>
            <a:r>
              <a:rPr lang="en-US" dirty="0"/>
              <a:t>O(n^2): </a:t>
            </a:r>
            <a:r>
              <a:rPr lang="ru-RU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63EFF4-DDC6-4E4F-83CB-12489B1BED39}"/>
              </a:ext>
            </a:extLst>
          </p:cNvPr>
          <p:cNvSpPr txBox="1"/>
          <p:nvPr/>
        </p:nvSpPr>
        <p:spPr>
          <a:xfrm>
            <a:off x="4966570" y="4056924"/>
            <a:ext cx="3100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этом случае будет </a:t>
            </a:r>
            <a:r>
              <a:rPr lang="en-US" dirty="0"/>
              <a:t>O(n) * O(10) = O(10n) = O</a:t>
            </a:r>
            <a:r>
              <a:rPr lang="ru-RU" dirty="0"/>
              <a:t>(</a:t>
            </a:r>
            <a:r>
              <a:rPr lang="en-US" dirty="0"/>
              <a:t>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21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D24A-E474-4D51-8036-5305CF02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27" y="361264"/>
            <a:ext cx="8222100" cy="767700"/>
          </a:xfrm>
        </p:spPr>
        <p:txBody>
          <a:bodyPr/>
          <a:lstStyle/>
          <a:p>
            <a:r>
              <a:rPr lang="ru-RU" dirty="0"/>
              <a:t>Пример 1. Сортировка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74CC8-73A2-4836-8D9E-BB5E7258A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73CAC-3C5E-4309-AEC9-3B0D5C760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73" y="1066334"/>
            <a:ext cx="3959283" cy="37711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9A67F-82E9-4101-BF87-9B913853157A}"/>
              </a:ext>
            </a:extLst>
          </p:cNvPr>
          <p:cNvSpPr txBox="1"/>
          <p:nvPr/>
        </p:nvSpPr>
        <p:spPr>
          <a:xfrm>
            <a:off x="4572000" y="2029217"/>
            <a:ext cx="127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BADE98-F310-433C-AE65-C56F251A9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77" y="2373354"/>
            <a:ext cx="3248478" cy="752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D42940-24C7-4078-B483-9912B73FFB2F}"/>
              </a:ext>
            </a:extLst>
          </p:cNvPr>
          <p:cNvSpPr txBox="1"/>
          <p:nvPr/>
        </p:nvSpPr>
        <p:spPr>
          <a:xfrm>
            <a:off x="4595477" y="3125934"/>
            <a:ext cx="2642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Более прост в восприятии за счет флага </a:t>
            </a:r>
            <a:r>
              <a:rPr lang="en-US" dirty="0" err="1"/>
              <a:t>isSorted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2484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D24A-E474-4D51-8036-5305CF02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27" y="610505"/>
            <a:ext cx="8222100" cy="767700"/>
          </a:xfrm>
        </p:spPr>
        <p:txBody>
          <a:bodyPr/>
          <a:lstStyle/>
          <a:p>
            <a:r>
              <a:rPr lang="ru-RU" dirty="0"/>
              <a:t>Пример 2. Сортировка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74CC8-73A2-4836-8D9E-BB5E7258A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9A67F-82E9-4101-BF87-9B913853157A}"/>
              </a:ext>
            </a:extLst>
          </p:cNvPr>
          <p:cNvSpPr txBox="1"/>
          <p:nvPr/>
        </p:nvSpPr>
        <p:spPr>
          <a:xfrm>
            <a:off x="4572000" y="2029217"/>
            <a:ext cx="127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8F537A-4A02-499F-ADD4-8FAAE8F0D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20" y="1668295"/>
            <a:ext cx="4163006" cy="2886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F2218B-0DE5-4620-B671-06F5C297B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949" y="2079783"/>
            <a:ext cx="2724530" cy="257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ADF576-66CF-4269-997D-E2FB6C95B7BE}"/>
              </a:ext>
            </a:extLst>
          </p:cNvPr>
          <p:cNvSpPr txBox="1"/>
          <p:nvPr/>
        </p:nvSpPr>
        <p:spPr>
          <a:xfrm>
            <a:off x="4722313" y="2453399"/>
            <a:ext cx="38517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Алгоритм отсекает после прогона конец массива, начиная с крайнего правого индекса, за счет этого немного эффективнее предыдущего варианта</a:t>
            </a:r>
          </a:p>
        </p:txBody>
      </p:sp>
    </p:spTree>
    <p:extLst>
      <p:ext uri="{BB962C8B-B14F-4D97-AF65-F5344CB8AC3E}">
        <p14:creationId xmlns:p14="http://schemas.microsoft.com/office/powerpoint/2010/main" val="3714784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2107-4BA7-488B-9968-AD94A75F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Бинарный поиск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E7015-C712-4FA5-A865-A29765F33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BEDF6-C3EB-4C08-B762-7CFC59F6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75" y="1466685"/>
            <a:ext cx="3484055" cy="36149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9BD61F-1A94-4204-968F-BAF165C6E436}"/>
              </a:ext>
            </a:extLst>
          </p:cNvPr>
          <p:cNvSpPr txBox="1"/>
          <p:nvPr/>
        </p:nvSpPr>
        <p:spPr>
          <a:xfrm>
            <a:off x="4168504" y="2273303"/>
            <a:ext cx="43617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+mn-lt"/>
              </a:rPr>
              <a:t>Смотрит на средний элемент.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+mn-lt"/>
              </a:rPr>
              <a:t>Если он не равен искомому, то понимает, в какой половине искать дальше.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+mn-lt"/>
              </a:rPr>
              <a:t>Одну половину отбрасывает.</a:t>
            </a:r>
          </a:p>
          <a:p>
            <a:endParaRPr lang="ru-RU" dirty="0"/>
          </a:p>
          <a:p>
            <a:r>
              <a:rPr lang="ru-RU" dirty="0"/>
              <a:t>Важно:</a:t>
            </a:r>
            <a:br>
              <a:rPr lang="ru-RU" dirty="0"/>
            </a:br>
            <a:r>
              <a:rPr lang="ru-RU" dirty="0"/>
              <a:t>Массив должен быть отсортирован</a:t>
            </a:r>
          </a:p>
        </p:txBody>
      </p:sp>
    </p:spTree>
    <p:extLst>
      <p:ext uri="{BB962C8B-B14F-4D97-AF65-F5344CB8AC3E}">
        <p14:creationId xmlns:p14="http://schemas.microsoft.com/office/powerpoint/2010/main" val="2983602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DFEE-954F-4E4E-B47B-28100369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O(log n): Логарифмическая сложность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E52F-6E6C-4978-81FB-46C77984A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O(log n): Логарифмическая сложность.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Время выполнения алгоритма растет медленно с увеличением размера входных данных.</a:t>
            </a:r>
            <a:endParaRPr lang="en-US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B3B836-AEE5-419C-9A10-62B67C86FD2A}"/>
              </a:ext>
            </a:extLst>
          </p:cNvPr>
          <p:cNvSpPr txBox="1"/>
          <p:nvPr/>
        </p:nvSpPr>
        <p:spPr>
          <a:xfrm>
            <a:off x="945715" y="2630466"/>
            <a:ext cx="4340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каждого шага в бинарном поиске остается: </a:t>
            </a:r>
            <a:r>
              <a:rPr lang="pt-BR" dirty="0"/>
              <a:t>n → n/2 → n/4 → n/8 → ... → 1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9C49F-A5E6-4E37-8790-06843811455A}"/>
              </a:ext>
            </a:extLst>
          </p:cNvPr>
          <p:cNvSpPr txBox="1"/>
          <p:nvPr/>
        </p:nvSpPr>
        <p:spPr>
          <a:xfrm>
            <a:off x="945715" y="3153686"/>
            <a:ext cx="5693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Сколько раз нужно разделить n на 2, чтобы остался 1 элемент?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6CE24-15B7-46F5-AFBE-8FFCE0FA2677}"/>
              </a:ext>
            </a:extLst>
          </p:cNvPr>
          <p:cNvSpPr txBox="1"/>
          <p:nvPr/>
        </p:nvSpPr>
        <p:spPr>
          <a:xfrm>
            <a:off x="1017419" y="3421288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 / 2</a:t>
            </a:r>
            <a:r>
              <a:rPr lang="pt-BR" baseline="30000" dirty="0"/>
              <a:t>k</a:t>
            </a:r>
            <a:r>
              <a:rPr lang="pt-BR" dirty="0"/>
              <a:t> = 1</a:t>
            </a:r>
          </a:p>
          <a:p>
            <a:r>
              <a:rPr lang="pt-BR" dirty="0"/>
              <a:t>2</a:t>
            </a:r>
            <a:r>
              <a:rPr lang="pt-BR" baseline="30000" dirty="0"/>
              <a:t>k</a:t>
            </a:r>
            <a:r>
              <a:rPr lang="pt-BR" dirty="0"/>
              <a:t> = n</a:t>
            </a:r>
          </a:p>
          <a:p>
            <a:r>
              <a:rPr lang="pt-BR" dirty="0"/>
              <a:t>k = log₂ n</a:t>
            </a:r>
            <a:endParaRPr lang="ru-RU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A85C36C4-B298-4103-9231-953768059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77144"/>
              </p:ext>
            </p:extLst>
          </p:nvPr>
        </p:nvGraphicFramePr>
        <p:xfrm>
          <a:off x="2395200" y="3446210"/>
          <a:ext cx="3357600" cy="153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000">
                  <a:extLst>
                    <a:ext uri="{9D8B030D-6E8A-4147-A177-3AD203B41FA5}">
                      <a16:colId xmlns:a16="http://schemas.microsoft.com/office/drawing/2014/main" val="399367352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3441281301"/>
                    </a:ext>
                  </a:extLst>
                </a:gridCol>
                <a:gridCol w="1648800">
                  <a:extLst>
                    <a:ext uri="{9D8B030D-6E8A-4147-A177-3AD203B41FA5}">
                      <a16:colId xmlns:a16="http://schemas.microsoft.com/office/drawing/2014/main" val="3274814156"/>
                    </a:ext>
                  </a:extLst>
                </a:gridCol>
              </a:tblGrid>
              <a:tr h="306462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log₂ 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900" dirty="0"/>
                        <a:t>Сколько шагов примерно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408352"/>
                  </a:ext>
                </a:extLst>
              </a:tr>
              <a:tr h="306462"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672760"/>
                  </a:ext>
                </a:extLst>
              </a:tr>
              <a:tr h="306462">
                <a:tc>
                  <a:txBody>
                    <a:bodyPr/>
                    <a:lstStyle/>
                    <a:p>
                      <a:r>
                        <a:rPr lang="ru-RU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204965"/>
                  </a:ext>
                </a:extLst>
              </a:tr>
              <a:tr h="306462">
                <a:tc>
                  <a:txBody>
                    <a:bodyPr/>
                    <a:lstStyle/>
                    <a:p>
                      <a:r>
                        <a:rPr lang="ru-RU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171109"/>
                  </a:ext>
                </a:extLst>
              </a:tr>
              <a:tr h="306462">
                <a:tc>
                  <a:txBody>
                    <a:bodyPr/>
                    <a:lstStyle/>
                    <a:p>
                      <a:r>
                        <a:rPr lang="ru-RU" dirty="0"/>
                        <a:t>1 000 000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≈20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≈20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05556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DAF57F9-C21A-4BF8-A19B-291BA2265E75}"/>
              </a:ext>
            </a:extLst>
          </p:cNvPr>
          <p:cNvSpPr txBox="1"/>
          <p:nvPr/>
        </p:nvSpPr>
        <p:spPr>
          <a:xfrm>
            <a:off x="5946904" y="3445971"/>
            <a:ext cx="287309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 Big-O основание логарифма не важно: log₂ n, log₁₀ n и ln n отличаются только постоянным множителем, поэтому пишут O(log n)</a:t>
            </a:r>
          </a:p>
        </p:txBody>
      </p:sp>
    </p:spTree>
    <p:extLst>
      <p:ext uri="{BB962C8B-B14F-4D97-AF65-F5344CB8AC3E}">
        <p14:creationId xmlns:p14="http://schemas.microsoft.com/office/powerpoint/2010/main" val="3643317200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573</Words>
  <Application>Microsoft Office PowerPoint</Application>
  <PresentationFormat>On-screen Show (16:9)</PresentationFormat>
  <Paragraphs>58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Roboto</vt:lpstr>
      <vt:lpstr>Material</vt:lpstr>
      <vt:lpstr>Алгоритмическая сложность. Сортировка пузырьком, бинарный поиск</vt:lpstr>
      <vt:lpstr>Актуализация </vt:lpstr>
      <vt:lpstr>Алгоритмическая сложность. Big O</vt:lpstr>
      <vt:lpstr>Алгоритмическая сложность. Big O</vt:lpstr>
      <vt:lpstr>Алгоритмическая сложность. Big O</vt:lpstr>
      <vt:lpstr>O(1): Константная сложность. </vt:lpstr>
      <vt:lpstr>O(n): Линейная сложность</vt:lpstr>
      <vt:lpstr>O(n^2): Квадратичная сложность. </vt:lpstr>
      <vt:lpstr>Пример 1. Сортировка</vt:lpstr>
      <vt:lpstr>Пример 2. Сортировка</vt:lpstr>
      <vt:lpstr>Бинарный поиск</vt:lpstr>
      <vt:lpstr>O(log n): Логарифмическая сложность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Типы данных</dc:title>
  <cp:lastModifiedBy>Vadim Gabderakhmanov</cp:lastModifiedBy>
  <cp:revision>184</cp:revision>
  <dcterms:modified xsi:type="dcterms:W3CDTF">2026-10-21T13:43:56Z</dcterms:modified>
</cp:coreProperties>
</file>