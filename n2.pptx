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94" r:id="rId3"/>
    <p:sldId id="291" r:id="rId4"/>
    <p:sldId id="292" r:id="rId5"/>
    <p:sldId id="293" r:id="rId6"/>
    <p:sldId id="286" r:id="rId7"/>
    <p:sldId id="289" r:id="rId8"/>
    <p:sldId id="287" r:id="rId9"/>
    <p:sldId id="288" r:id="rId10"/>
    <p:sldId id="290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20" r:id="rId36"/>
    <p:sldId id="319" r:id="rId37"/>
  </p:sldIdLst>
  <p:sldSz cx="9144000" cy="5143500" type="screen16x9"/>
  <p:notesSz cx="6858000" cy="9144000"/>
  <p:embeddedFontLst>
    <p:embeddedFont>
      <p:font typeface="Roboto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26A4"/>
    <a:srgbClr val="B76B01"/>
    <a:srgbClr val="649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32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c954c836a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c954c836a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c954c836a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c954c836a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930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c954c836a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c954c836a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7582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c954c836a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c954c836a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52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c954c836a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c954c836a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359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Типы данных, структуры данных, управляющие конструкции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C1FC-D4F4-47F9-BC30-452189D0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Актуализация 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11EA7-7DD3-44EC-B774-4E8B09F97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Какие типы данных вы использовали в Pascal? В Python? В 1С?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Чем integer отличается от real?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Что такое массив?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Как записать условие «если число больше 0» на Python? На Pascal? На 1С?</a:t>
            </a:r>
          </a:p>
        </p:txBody>
      </p:sp>
    </p:spTree>
    <p:extLst>
      <p:ext uri="{BB962C8B-B14F-4D97-AF65-F5344CB8AC3E}">
        <p14:creationId xmlns:p14="http://schemas.microsoft.com/office/powerpoint/2010/main" val="154171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C1FC-D4F4-47F9-BC30-452189D0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Типы и структуры данных, управляющие конструкции. Различия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11EA7-7DD3-44EC-B774-4E8B09F97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30154-AC68-47F8-9CA1-DE18A0669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470" y="1726002"/>
            <a:ext cx="4696003" cy="320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7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A6F2-FEEE-437C-9493-C9C3570D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Структуры и типы данных, управляющие конструкции. Различия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8C38F-5C72-447E-9664-230AE0F5A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Тип данных — </a:t>
            </a:r>
            <a:r>
              <a:rPr lang="ru-RU" b="1" dirty="0">
                <a:solidFill>
                  <a:schemeClr val="bg2">
                    <a:lumMod val="50000"/>
                  </a:schemeClr>
                </a:solidFill>
              </a:rPr>
              <a:t>что за значение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хранится и какие операции с ним допустимы.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Структура данных — </a:t>
            </a:r>
            <a:r>
              <a:rPr lang="ru-RU" b="1" dirty="0">
                <a:solidFill>
                  <a:schemeClr val="bg2">
                    <a:lumMod val="50000"/>
                  </a:schemeClr>
                </a:solidFill>
              </a:rPr>
              <a:t>как значения организованы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 в памяти для эффективного доступа и изменения.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Управляющие конструкции — </a:t>
            </a:r>
            <a:r>
              <a:rPr lang="ru-RU" b="1" dirty="0">
                <a:solidFill>
                  <a:schemeClr val="bg2">
                    <a:lumMod val="50000"/>
                  </a:schemeClr>
                </a:solidFill>
              </a:rPr>
              <a:t>в каком порядке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выполняются инструкции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2342566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066B-13C4-4E15-9DDC-E7709277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82F40-962F-42B7-BADC-BC86064F8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AE784D-6039-431E-8F6A-018D92967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827474"/>
              </p:ext>
            </p:extLst>
          </p:nvPr>
        </p:nvGraphicFramePr>
        <p:xfrm>
          <a:off x="2063469" y="1809499"/>
          <a:ext cx="5017061" cy="2971488"/>
        </p:xfrm>
        <a:graphic>
          <a:graphicData uri="http://schemas.openxmlformats.org/drawingml/2006/table">
            <a:tbl>
              <a:tblPr/>
              <a:tblGrid>
                <a:gridCol w="2426349">
                  <a:extLst>
                    <a:ext uri="{9D8B030D-6E8A-4147-A177-3AD203B41FA5}">
                      <a16:colId xmlns:a16="http://schemas.microsoft.com/office/drawing/2014/main" val="3718010984"/>
                    </a:ext>
                  </a:extLst>
                </a:gridCol>
                <a:gridCol w="2590712">
                  <a:extLst>
                    <a:ext uri="{9D8B030D-6E8A-4147-A177-3AD203B41FA5}">
                      <a16:colId xmlns:a16="http://schemas.microsoft.com/office/drawing/2014/main" val="696231490"/>
                    </a:ext>
                  </a:extLst>
                </a:gridCol>
              </a:tblGrid>
              <a:tr h="309698">
                <a:tc>
                  <a:txBody>
                    <a:bodyPr/>
                    <a:lstStyle/>
                    <a:p>
                      <a:pPr algn="l"/>
                      <a:r>
                        <a:rPr lang="ru-RU" sz="1400" b="1" baseline="0" dirty="0">
                          <a:solidFill>
                            <a:schemeClr val="bg1"/>
                          </a:solidFill>
                          <a:effectLst/>
                        </a:rPr>
                        <a:t>Категория</a:t>
                      </a:r>
                    </a:p>
                  </a:txBody>
                  <a:tcPr marL="77425" marR="103233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baseline="0" dirty="0">
                          <a:solidFill>
                            <a:schemeClr val="bg1"/>
                          </a:solidFill>
                          <a:effectLst/>
                        </a:rPr>
                        <a:t>Примеры</a:t>
                      </a:r>
                    </a:p>
                  </a:txBody>
                  <a:tcPr marL="103233" marR="103233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860526"/>
                  </a:ext>
                </a:extLst>
              </a:tr>
              <a:tr h="671013">
                <a:tc>
                  <a:txBody>
                    <a:bodyPr/>
                    <a:lstStyle/>
                    <a:p>
                      <a:r>
                        <a:rPr lang="ru-RU" sz="1400" b="0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Числовые</a:t>
                      </a:r>
                    </a:p>
                  </a:txBody>
                  <a:tcPr marL="77425" marR="103233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baseline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целые (int), вещественные (float, double), рациональные, комплексные</a:t>
                      </a:r>
                    </a:p>
                  </a:txBody>
                  <a:tcPr marL="103233" marR="77425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943851"/>
                  </a:ext>
                </a:extLst>
              </a:tr>
              <a:tr h="309698">
                <a:tc>
                  <a:txBody>
                    <a:bodyPr/>
                    <a:lstStyle/>
                    <a:p>
                      <a:r>
                        <a:rPr lang="ru-RU" sz="1400" b="0" baseline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Логические</a:t>
                      </a:r>
                    </a:p>
                  </a:txBody>
                  <a:tcPr marL="77425" marR="103233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baseline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boolean (True/False)</a:t>
                      </a:r>
                    </a:p>
                  </a:txBody>
                  <a:tcPr marL="103233" marR="77425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105609"/>
                  </a:ext>
                </a:extLst>
              </a:tr>
              <a:tr h="309698">
                <a:tc>
                  <a:txBody>
                    <a:bodyPr/>
                    <a:lstStyle/>
                    <a:p>
                      <a:r>
                        <a:rPr lang="ru-RU" sz="1400" b="0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Символьные и строковые</a:t>
                      </a:r>
                    </a:p>
                  </a:txBody>
                  <a:tcPr marL="77425" marR="103233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baseline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char, string, str</a:t>
                      </a:r>
                    </a:p>
                  </a:txBody>
                  <a:tcPr marL="103233" marR="77425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381045"/>
                  </a:ext>
                </a:extLst>
              </a:tr>
              <a:tr h="309698">
                <a:tc>
                  <a:txBody>
                    <a:bodyPr/>
                    <a:lstStyle/>
                    <a:p>
                      <a:r>
                        <a:rPr lang="ru-RU" sz="1400" b="0" baseline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Дата и время</a:t>
                      </a:r>
                    </a:p>
                  </a:txBody>
                  <a:tcPr marL="77425" marR="103233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baseline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date, time, datetime</a:t>
                      </a:r>
                    </a:p>
                  </a:txBody>
                  <a:tcPr marL="103233" marR="77425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566874"/>
                  </a:ext>
                </a:extLst>
              </a:tr>
              <a:tr h="309698">
                <a:tc>
                  <a:txBody>
                    <a:bodyPr/>
                    <a:lstStyle/>
                    <a:p>
                      <a:r>
                        <a:rPr lang="ru-RU" sz="1400" b="0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Бинарные</a:t>
                      </a:r>
                    </a:p>
                  </a:txBody>
                  <a:tcPr marL="77425" marR="103233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bytes, </a:t>
                      </a:r>
                      <a:r>
                        <a:rPr lang="en-US" sz="1400" b="0" baseline="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bytearray</a:t>
                      </a:r>
                      <a:endParaRPr lang="en-US" sz="1400" b="0" baseline="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103233" marR="77425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00392"/>
                  </a:ext>
                </a:extLst>
              </a:tr>
              <a:tr h="490356">
                <a:tc>
                  <a:txBody>
                    <a:bodyPr/>
                    <a:lstStyle/>
                    <a:p>
                      <a:r>
                        <a:rPr lang="ru-RU" sz="1400" b="0" baseline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Специальные</a:t>
                      </a:r>
                    </a:p>
                  </a:txBody>
                  <a:tcPr marL="77425" marR="103233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None, null, nil, </a:t>
                      </a:r>
                      <a:r>
                        <a:rPr lang="ru-RU" sz="1400" b="0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Неопределено</a:t>
                      </a:r>
                      <a:endParaRPr lang="en-US" sz="1400" b="0" baseline="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103233" marR="77425" marT="64521" marB="64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35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76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Примитивы в </a:t>
            </a:r>
            <a:r>
              <a:rPr lang="en-US" dirty="0" err="1"/>
              <a:t>PascalABC</a:t>
            </a:r>
            <a:r>
              <a:rPr lang="en-US" dirty="0"/>
              <a:t>, Python, 1C, Java</a:t>
            </a:r>
            <a:endParaRPr dirty="0"/>
          </a:p>
        </p:txBody>
      </p:sp>
      <p:sp>
        <p:nvSpPr>
          <p:cNvPr id="272" name="Google Shape;272;p43"/>
          <p:cNvSpPr txBox="1">
            <a:spLocks noGrp="1"/>
          </p:cNvSpPr>
          <p:nvPr>
            <p:ph type="body" idx="1"/>
          </p:nvPr>
        </p:nvSpPr>
        <p:spPr>
          <a:xfrm>
            <a:off x="96118" y="1724922"/>
            <a:ext cx="1682577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dirty="0">
                <a:solidFill>
                  <a:schemeClr val="accent5"/>
                </a:solidFill>
              </a:rPr>
              <a:t>Целые числа</a:t>
            </a:r>
            <a:endParaRPr dirty="0">
              <a:solidFill>
                <a:schemeClr val="accent5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115363-069F-4E87-BB90-8CD51D75B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914983"/>
              </p:ext>
            </p:extLst>
          </p:nvPr>
        </p:nvGraphicFramePr>
        <p:xfrm>
          <a:off x="1718154" y="1826904"/>
          <a:ext cx="6096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769364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608192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477930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803209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PascalABC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66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shortint</a:t>
                      </a:r>
                      <a:endParaRPr lang="en-US" dirty="0"/>
                    </a:p>
                    <a:p>
                      <a:r>
                        <a:rPr lang="en-US" dirty="0" err="1"/>
                        <a:t>smallint</a:t>
                      </a:r>
                      <a:endParaRPr lang="en-US" dirty="0"/>
                    </a:p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integer</a:t>
                      </a:r>
                      <a:endParaRPr lang="ru-RU" dirty="0"/>
                    </a:p>
                    <a:p>
                      <a:r>
                        <a:rPr lang="en-US" dirty="0" err="1"/>
                        <a:t>longint</a:t>
                      </a:r>
                      <a:endParaRPr lang="en-US" dirty="0"/>
                    </a:p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Int64</a:t>
                      </a:r>
                      <a:endParaRPr lang="ru-RU" dirty="0">
                        <a:solidFill>
                          <a:schemeClr val="bg2"/>
                        </a:solidFill>
                      </a:endParaRPr>
                    </a:p>
                    <a:p>
                      <a:r>
                        <a:rPr lang="en-US" dirty="0"/>
                        <a:t>byte	</a:t>
                      </a:r>
                    </a:p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word</a:t>
                      </a:r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 (16-бит)</a:t>
                      </a:r>
                      <a:endParaRPr lang="en-US" dirty="0"/>
                    </a:p>
                    <a:p>
                      <a:r>
                        <a:rPr lang="en-US" dirty="0"/>
                        <a:t>longword, 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cardinal</a:t>
                      </a:r>
                      <a:endParaRPr lang="ru-RU" dirty="0">
                        <a:solidFill>
                          <a:schemeClr val="bg2"/>
                        </a:solidFill>
                      </a:endParaRPr>
                    </a:p>
                    <a:p>
                      <a:r>
                        <a:rPr lang="en-US" dirty="0"/>
                        <a:t>uint64</a:t>
                      </a:r>
                    </a:p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BigInteger</a:t>
                      </a:r>
                      <a:endParaRPr lang="ru-RU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Число (нету разделения на дробные и целые)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byte</a:t>
                      </a:r>
                    </a:p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short</a:t>
                      </a:r>
                    </a:p>
                    <a:p>
                      <a:r>
                        <a:rPr lang="en-US" dirty="0"/>
                        <a:t>int</a:t>
                      </a:r>
                    </a:p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long</a:t>
                      </a:r>
                      <a:endParaRPr lang="ru-RU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2909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Примитивы в </a:t>
            </a:r>
            <a:r>
              <a:rPr lang="en-US" dirty="0" err="1"/>
              <a:t>PascalABC</a:t>
            </a:r>
            <a:r>
              <a:rPr lang="en-US" dirty="0"/>
              <a:t>, Python, 1C, Java</a:t>
            </a:r>
            <a:endParaRPr dirty="0"/>
          </a:p>
        </p:txBody>
      </p:sp>
      <p:sp>
        <p:nvSpPr>
          <p:cNvPr id="272" name="Google Shape;272;p43"/>
          <p:cNvSpPr txBox="1">
            <a:spLocks noGrp="1"/>
          </p:cNvSpPr>
          <p:nvPr>
            <p:ph type="body" idx="1"/>
          </p:nvPr>
        </p:nvSpPr>
        <p:spPr>
          <a:xfrm>
            <a:off x="-24008" y="2097680"/>
            <a:ext cx="1864290" cy="11560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000" dirty="0">
                <a:solidFill>
                  <a:schemeClr val="accent5"/>
                </a:solidFill>
              </a:rPr>
              <a:t>Дробные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000" dirty="0">
                <a:solidFill>
                  <a:schemeClr val="accent5"/>
                </a:solidFill>
              </a:rPr>
              <a:t>числа</a:t>
            </a:r>
            <a:endParaRPr sz="2000" dirty="0">
              <a:solidFill>
                <a:schemeClr val="accent5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115363-069F-4E87-BB90-8CD51D75B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342053"/>
              </p:ext>
            </p:extLst>
          </p:nvPr>
        </p:nvGraphicFramePr>
        <p:xfrm>
          <a:off x="1718154" y="1826904"/>
          <a:ext cx="6517709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929">
                  <a:extLst>
                    <a:ext uri="{9D8B030D-6E8A-4147-A177-3AD203B41FA5}">
                      <a16:colId xmlns:a16="http://schemas.microsoft.com/office/drawing/2014/main" val="76936424"/>
                    </a:ext>
                  </a:extLst>
                </a:gridCol>
                <a:gridCol w="1569929">
                  <a:extLst>
                    <a:ext uri="{9D8B030D-6E8A-4147-A177-3AD203B41FA5}">
                      <a16:colId xmlns:a16="http://schemas.microsoft.com/office/drawing/2014/main" val="4060819202"/>
                    </a:ext>
                  </a:extLst>
                </a:gridCol>
                <a:gridCol w="1569929">
                  <a:extLst>
                    <a:ext uri="{9D8B030D-6E8A-4147-A177-3AD203B41FA5}">
                      <a16:colId xmlns:a16="http://schemas.microsoft.com/office/drawing/2014/main" val="3747793050"/>
                    </a:ext>
                  </a:extLst>
                </a:gridCol>
                <a:gridCol w="1807922">
                  <a:extLst>
                    <a:ext uri="{9D8B030D-6E8A-4147-A177-3AD203B41FA5}">
                      <a16:colId xmlns:a16="http://schemas.microsoft.com/office/drawing/2014/main" val="2803209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PascalABC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66653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real</a:t>
                      </a:r>
                      <a:endParaRPr lang="ru-RU" sz="1400" b="0" i="0" u="none" strike="noStrike" cap="none" spc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double</a:t>
                      </a:r>
                      <a:endParaRPr lang="ru-RU" sz="1400" b="0" i="0" u="none" strike="noStrike" cap="none" spc="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single</a:t>
                      </a:r>
                      <a:endParaRPr lang="ru-RU" sz="1400" b="0" i="0" u="none" strike="noStrike" cap="none" spc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decimal</a:t>
                      </a:r>
                      <a:endParaRPr lang="ru-RU" sz="1400" b="0" i="0" u="none" strike="noStrike" cap="none" spc="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endParaRPr lang="ru-RU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/>
                        <a:t>Число (нету разделения на дробные и целые)</a:t>
                      </a:r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29099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char </a:t>
                      </a:r>
                      <a:endParaRPr lang="ru-RU" sz="1400" b="0" i="0" u="none" strike="noStrike" cap="none" spc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string</a:t>
                      </a:r>
                      <a:endParaRPr lang="ru-RU" dirty="0">
                        <a:solidFill>
                          <a:schemeClr val="bg2"/>
                        </a:solidFill>
                      </a:endParaRPr>
                    </a:p>
                    <a:p>
                      <a:endParaRPr lang="ru-RU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str (</a:t>
                      </a:r>
                      <a:r>
                        <a:rPr lang="ru-RU" dirty="0"/>
                        <a:t>нету разделения на </a:t>
                      </a:r>
                      <a:r>
                        <a:rPr lang="en-US" dirty="0"/>
                        <a:t>char </a:t>
                      </a:r>
                      <a:r>
                        <a:rPr lang="ru-RU" dirty="0"/>
                        <a:t>и </a:t>
                      </a:r>
                      <a:r>
                        <a:rPr lang="en-US" dirty="0"/>
                        <a:t>string)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/>
                        <a:t>Строка (нету разделения как и в </a:t>
                      </a:r>
                      <a:r>
                        <a:rPr lang="en-US" dirty="0"/>
                        <a:t>python</a:t>
                      </a:r>
                      <a:r>
                        <a:rPr lang="ru-RU" dirty="0"/>
                        <a:t>)</a:t>
                      </a:r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</a:t>
                      </a:r>
                      <a:r>
                        <a:rPr lang="ru-RU" dirty="0"/>
                        <a:t>, </a:t>
                      </a:r>
                      <a:r>
                        <a:rPr lang="en-US" dirty="0"/>
                        <a:t>String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19083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spc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boolean</a:t>
                      </a:r>
                      <a:endParaRPr lang="ru-RU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Булево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boolean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93129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Nullable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NoneType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Неопределено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null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(безымянный тип)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934556"/>
                  </a:ext>
                </a:extLst>
              </a:tr>
            </a:tbl>
          </a:graphicData>
        </a:graphic>
      </p:graphicFrame>
      <p:sp>
        <p:nvSpPr>
          <p:cNvPr id="5" name="Google Shape;272;p43">
            <a:extLst>
              <a:ext uri="{FF2B5EF4-FFF2-40B4-BE49-F238E27FC236}">
                <a16:creationId xmlns:a16="http://schemas.microsoft.com/office/drawing/2014/main" id="{8FCC546D-EE26-4701-B7C3-33525FF5A4BF}"/>
              </a:ext>
            </a:extLst>
          </p:cNvPr>
          <p:cNvSpPr txBox="1">
            <a:spLocks/>
          </p:cNvSpPr>
          <p:nvPr/>
        </p:nvSpPr>
        <p:spPr>
          <a:xfrm>
            <a:off x="-75155" y="3178186"/>
            <a:ext cx="1864290" cy="115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200"/>
              </a:spcAft>
              <a:buFont typeface="Roboto"/>
              <a:buNone/>
            </a:pPr>
            <a:r>
              <a:rPr lang="ru-RU" sz="2000" dirty="0">
                <a:solidFill>
                  <a:schemeClr val="accent5"/>
                </a:solidFill>
              </a:rPr>
              <a:t>Символьные, строковые</a:t>
            </a:r>
          </a:p>
        </p:txBody>
      </p:sp>
      <p:sp>
        <p:nvSpPr>
          <p:cNvPr id="7" name="Google Shape;272;p43">
            <a:extLst>
              <a:ext uri="{FF2B5EF4-FFF2-40B4-BE49-F238E27FC236}">
                <a16:creationId xmlns:a16="http://schemas.microsoft.com/office/drawing/2014/main" id="{7B96A9B7-4D7A-469D-AEFC-590E6105DB04}"/>
              </a:ext>
            </a:extLst>
          </p:cNvPr>
          <p:cNvSpPr txBox="1">
            <a:spLocks/>
          </p:cNvSpPr>
          <p:nvPr/>
        </p:nvSpPr>
        <p:spPr>
          <a:xfrm>
            <a:off x="-24008" y="4095887"/>
            <a:ext cx="1864290" cy="115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200"/>
              </a:spcAft>
              <a:buFont typeface="Roboto"/>
              <a:buNone/>
            </a:pPr>
            <a:r>
              <a:rPr lang="ru-RU" sz="2000" dirty="0">
                <a:solidFill>
                  <a:schemeClr val="accent5"/>
                </a:solidFill>
              </a:rPr>
              <a:t>Логические </a:t>
            </a:r>
          </a:p>
        </p:txBody>
      </p:sp>
      <p:sp>
        <p:nvSpPr>
          <p:cNvPr id="10" name="Google Shape;272;p43">
            <a:extLst>
              <a:ext uri="{FF2B5EF4-FFF2-40B4-BE49-F238E27FC236}">
                <a16:creationId xmlns:a16="http://schemas.microsoft.com/office/drawing/2014/main" id="{4F0953DA-78BE-4132-93F1-9D5CDDD86097}"/>
              </a:ext>
            </a:extLst>
          </p:cNvPr>
          <p:cNvSpPr txBox="1">
            <a:spLocks/>
          </p:cNvSpPr>
          <p:nvPr/>
        </p:nvSpPr>
        <p:spPr>
          <a:xfrm>
            <a:off x="27139" y="4565468"/>
            <a:ext cx="1864290" cy="115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200"/>
              </a:spcAft>
              <a:buFont typeface="Roboto"/>
              <a:buNone/>
            </a:pPr>
            <a:r>
              <a:rPr lang="ru-RU" sz="2000" dirty="0">
                <a:solidFill>
                  <a:schemeClr val="accent5"/>
                </a:solidFill>
              </a:rPr>
              <a:t>Спец. </a:t>
            </a:r>
          </a:p>
        </p:txBody>
      </p:sp>
    </p:spTree>
    <p:extLst>
      <p:ext uri="{BB962C8B-B14F-4D97-AF65-F5344CB8AC3E}">
        <p14:creationId xmlns:p14="http://schemas.microsoft.com/office/powerpoint/2010/main" val="1655057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 </a:t>
            </a:r>
            <a:r>
              <a:rPr lang="en-US" dirty="0"/>
              <a:t>Python</a:t>
            </a:r>
            <a:r>
              <a:rPr lang="ru-RU" dirty="0"/>
              <a:t> нету примитивов </a:t>
            </a:r>
            <a:endParaRPr dirty="0"/>
          </a:p>
        </p:txBody>
      </p:sp>
      <p:sp>
        <p:nvSpPr>
          <p:cNvPr id="272" name="Google Shape;272;p4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accent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5C993-9E4B-4FC9-9EEE-964A2121D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12" y="1875234"/>
            <a:ext cx="8602275" cy="24768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CBE349-7A10-4653-8B05-2E4EE83CD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9102" y="4470416"/>
            <a:ext cx="9144000" cy="20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77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 </a:t>
            </a:r>
            <a:r>
              <a:rPr lang="en-US" dirty="0"/>
              <a:t>Python</a:t>
            </a:r>
            <a:r>
              <a:rPr lang="ru-RU" dirty="0"/>
              <a:t> нету примитивов </a:t>
            </a:r>
            <a:endParaRPr dirty="0"/>
          </a:p>
        </p:txBody>
      </p:sp>
      <p:sp>
        <p:nvSpPr>
          <p:cNvPr id="272" name="Google Shape;272;p4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accent5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8CF34-1EEC-4720-B2B2-3EF59DC19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77" y="514225"/>
            <a:ext cx="7611537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45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Структуры данных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32A2BC-9DC9-4AFF-912D-E6FA99E57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00" y="1919074"/>
            <a:ext cx="8471684" cy="304749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Это способ организации и хранения информации в памяти компьютера, который позволяет эффективно получать к ней доступ и изменять её</a:t>
            </a:r>
          </a:p>
          <a:p>
            <a:pPr algn="just">
              <a:lnSpc>
                <a:spcPct val="120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Это информация, связанная определённым образом</a:t>
            </a:r>
          </a:p>
          <a:p>
            <a:pPr algn="just">
              <a:lnSpc>
                <a:spcPct val="120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Это объект-контейнер, в котором хранится информация. Данные внутри контейнера структурированы по особой системе — она различается в зависимости от вида структуры.</a:t>
            </a:r>
          </a:p>
          <a:p>
            <a:pPr algn="just">
              <a:lnSpc>
                <a:spcPct val="120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Программная единица, позволяющая хранить и обрабатывать однотипные и/или логически связанные данные. Для добавления, поиска, изменения и удаления данных структура данных предоставляет некоторый набор функций, составляющих её интерфейс.</a:t>
            </a:r>
          </a:p>
          <a:p>
            <a:pPr marL="114300" indent="0" algn="just">
              <a:lnSpc>
                <a:spcPct val="120000"/>
              </a:lnSpc>
              <a:buNone/>
            </a:pP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.....</a:t>
            </a:r>
          </a:p>
        </p:txBody>
      </p:sp>
    </p:spTree>
    <p:extLst>
      <p:ext uri="{BB962C8B-B14F-4D97-AF65-F5344CB8AC3E}">
        <p14:creationId xmlns:p14="http://schemas.microsoft.com/office/powerpoint/2010/main" val="142413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2A0C-572C-481D-A4D7-A03626FD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757514"/>
            <a:ext cx="8222100" cy="767700"/>
          </a:xfrm>
        </p:spPr>
        <p:txBody>
          <a:bodyPr/>
          <a:lstStyle/>
          <a:p>
            <a:r>
              <a:rPr lang="ru-RU" dirty="0"/>
              <a:t>Типы структур данных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21577-5922-4636-8E31-645CB3F6C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Линейные </a:t>
            </a:r>
          </a:p>
          <a:p>
            <a:r>
              <a:rPr lang="ru-RU" sz="28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Нелинейные</a:t>
            </a:r>
            <a:endParaRPr lang="en-US" sz="28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r>
              <a:rPr lang="ru-RU" sz="28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Ассоциативные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635A9-59ED-4F15-AC5A-D09A06689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842" y="1863763"/>
            <a:ext cx="4816258" cy="270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20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32871-8CA2-4829-82EA-B793BCF7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179191"/>
            <a:ext cx="8222100" cy="767700"/>
          </a:xfrm>
        </p:spPr>
        <p:txBody>
          <a:bodyPr/>
          <a:lstStyle/>
          <a:p>
            <a:r>
              <a:rPr lang="ru-RU" dirty="0"/>
              <a:t> Основные структуры данных (сводка)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78B7E-17E2-4BC0-825E-3C9BF219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CFBD83-3E15-4165-A9D7-46785E3EF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969183"/>
              </p:ext>
            </p:extLst>
          </p:nvPr>
        </p:nvGraphicFramePr>
        <p:xfrm>
          <a:off x="1296443" y="1074144"/>
          <a:ext cx="6288062" cy="3845346"/>
        </p:xfrm>
        <a:graphic>
          <a:graphicData uri="http://schemas.openxmlformats.org/drawingml/2006/table">
            <a:tbl>
              <a:tblPr/>
              <a:tblGrid>
                <a:gridCol w="1931626">
                  <a:extLst>
                    <a:ext uri="{9D8B030D-6E8A-4147-A177-3AD203B41FA5}">
                      <a16:colId xmlns:a16="http://schemas.microsoft.com/office/drawing/2014/main" val="2567188179"/>
                    </a:ext>
                  </a:extLst>
                </a:gridCol>
                <a:gridCol w="2178218">
                  <a:extLst>
                    <a:ext uri="{9D8B030D-6E8A-4147-A177-3AD203B41FA5}">
                      <a16:colId xmlns:a16="http://schemas.microsoft.com/office/drawing/2014/main" val="3093004267"/>
                    </a:ext>
                  </a:extLst>
                </a:gridCol>
                <a:gridCol w="2178218">
                  <a:extLst>
                    <a:ext uri="{9D8B030D-6E8A-4147-A177-3AD203B41FA5}">
                      <a16:colId xmlns:a16="http://schemas.microsoft.com/office/drawing/2014/main" val="1763229193"/>
                    </a:ext>
                  </a:extLst>
                </a:gridCol>
              </a:tblGrid>
              <a:tr h="195604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bg1"/>
                          </a:solidFill>
                          <a:effectLst/>
                        </a:rPr>
                        <a:t>Структура</a:t>
                      </a: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bg1"/>
                          </a:solidFill>
                          <a:effectLst/>
                        </a:rPr>
                        <a:t>Тип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</a:rPr>
                        <a:t>Особенность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258982"/>
                  </a:ext>
                </a:extLst>
              </a:tr>
              <a:tr h="423808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Массив</a:t>
                      </a: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Линейная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Фиксированный размер, доступ по индексу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961893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Список</a:t>
                      </a: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Линейная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Быстрое добавление/удаление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435669"/>
                  </a:ext>
                </a:extLst>
              </a:tr>
              <a:tr h="195604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Стек</a:t>
                      </a: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Линейная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LIFO (Last-in-First-out)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522382"/>
                  </a:ext>
                </a:extLst>
              </a:tr>
              <a:tr h="195604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Очередь</a:t>
                      </a:r>
                      <a:r>
                        <a:rPr lang="en-US" sz="1200" dirty="0">
                          <a:effectLst/>
                        </a:rPr>
                        <a:t> (Queue)</a:t>
                      </a:r>
                      <a:endParaRPr lang="ru-RU" sz="1200" dirty="0">
                        <a:effectLst/>
                      </a:endParaRP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Линейная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FIFO (First-in-First-out)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395709"/>
                  </a:ext>
                </a:extLst>
              </a:tr>
              <a:tr h="195604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Дек</a:t>
                      </a:r>
                      <a:r>
                        <a:rPr lang="en-US" sz="1200" dirty="0">
                          <a:effectLst/>
                        </a:rPr>
                        <a:t> (Deque)</a:t>
                      </a:r>
                      <a:endParaRPr lang="ru-RU" sz="1200" dirty="0">
                        <a:effectLst/>
                      </a:endParaRP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Линейная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Два конца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669735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Множество</a:t>
                      </a: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Ассоциативная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Уникальные элементы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450446"/>
                  </a:ext>
                </a:extLst>
              </a:tr>
              <a:tr h="19560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Словарь</a:t>
                      </a: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Ассоциативная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Ключ → значение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894518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Хеш-таблица</a:t>
                      </a: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Ассоциативная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Быстрый поиск по ключу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568420"/>
                  </a:ext>
                </a:extLst>
              </a:tr>
              <a:tr h="19560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Дерево</a:t>
                      </a: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Нелинейная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Иерархия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231396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Куча (не область памяти)</a:t>
                      </a: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Нелинейная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Приоритетная очередь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745547"/>
                  </a:ext>
                </a:extLst>
              </a:tr>
              <a:tr h="309705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Граф</a:t>
                      </a: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Нелинейная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Связи между вершинами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477800"/>
                  </a:ext>
                </a:extLst>
              </a:tr>
              <a:tr h="195604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Запись / класс</a:t>
                      </a:r>
                    </a:p>
                  </a:txBody>
                  <a:tcPr marL="39657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Составная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Разнотипные поля</a:t>
                      </a:r>
                    </a:p>
                  </a:txBody>
                  <a:tcPr marL="52875" marR="52875" marT="33047" marB="33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458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92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9F28-A6A0-4D8E-82B8-A5D1D0F5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Линейные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5BCE7-9020-479D-8129-0A0C9CEA7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471684" cy="2710200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Массив (Array) — непрерывная область памяти, доступ по индексу.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Связный список (Linked List) — узлы связаны ссылками. Бывает односвязный, двусвязный, кольцевой.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Стек (Stack) — принцип LIFO (последний пришёл — первый вышел).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Очередь (Queue) — принцип FIFO (первый пришёл — первый вышел).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Дек (Deque) — очередь с двумя концами.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Список (List) — абстрактный тип, может быть реализован массивом или связным списком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67A513-F796-4162-9FF4-B1C5BA726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585" y="2768790"/>
            <a:ext cx="1010770" cy="101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18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8B169-D606-46D3-94FB-234DD812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Нелинейные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E8BC5-A975-4101-8470-8B408AD2C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Дерево (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Tree) —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иерархия узлов. Виды: бинарное дерево,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BST, AVL,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красно-чёрное, куча (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heap), B-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дерево, префиксное дерево (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Trie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).</a:t>
            </a:r>
          </a:p>
          <a:p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Граф (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Graph) —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набор вершин и рёбер. Бывает ориентированный, неориентированный, взвешенный.</a:t>
            </a:r>
          </a:p>
        </p:txBody>
      </p:sp>
    </p:spTree>
    <p:extLst>
      <p:ext uri="{BB962C8B-B14F-4D97-AF65-F5344CB8AC3E}">
        <p14:creationId xmlns:p14="http://schemas.microsoft.com/office/powerpoint/2010/main" val="85670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7990-605B-42B0-9210-8FB78F8D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Ассоциативные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10E7D-1B50-4F10-9D99-AAA73FCAA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Множество (Set) — уникальные элементы, без порядка.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Словарь / Map / Ассоциативный массив — пары «ключ — значение».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Хеш-таблица (Hash Table) — реализация словаря на основе хеш-функции.</a:t>
            </a:r>
          </a:p>
        </p:txBody>
      </p:sp>
    </p:spTree>
    <p:extLst>
      <p:ext uri="{BB962C8B-B14F-4D97-AF65-F5344CB8AC3E}">
        <p14:creationId xmlns:p14="http://schemas.microsoft.com/office/powerpoint/2010/main" val="1830159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D240-2254-46C2-ACC4-90797B1E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E4990-F63A-453C-A0B0-ED59B581E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908" y="1694575"/>
            <a:ext cx="8222100" cy="27102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Push –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добавляет элемент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op 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Pop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– удаляет элемент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Peek –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получает первый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91A818-5D11-4C71-9CD5-4E013AAA5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049" y="1694575"/>
            <a:ext cx="4450916" cy="278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7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1B18-4C5E-47F4-A329-C2B1EDFC5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Deque (Double-ended-Queue)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143B5-1E99-4D3E-AB6A-F311D459F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065" y="1862708"/>
            <a:ext cx="3323486" cy="2710200"/>
          </a:xfrm>
        </p:spPr>
        <p:txBody>
          <a:bodyPr/>
          <a:lstStyle/>
          <a:p>
            <a:pPr algn="just"/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Позволяет добавлять элементы как в начало, так и в конец. Объединяет в себе функции стэка и очереди.</a:t>
            </a:r>
          </a:p>
          <a:p>
            <a:endParaRPr lang="ru-R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9F4DA4F-6CA4-4E60-9D73-B7DF42C1D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9357" y="1783251"/>
            <a:ext cx="4453982" cy="296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16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ADDF-71C3-4EFC-9F25-B18F33BE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48644-5E3F-4E8D-97C1-054E35AE2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3A1690-9421-419B-8D40-779E73EE7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78" y="1192188"/>
            <a:ext cx="7364628" cy="368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2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F7643-C4FC-483F-9B79-6E12379A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6C2AD-FF7E-476D-AB35-D005C85FA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CB487-339F-4EA4-916E-C7914B1FA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38" y="769381"/>
            <a:ext cx="6862033" cy="385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36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5620-E06F-4584-8193-412992D6D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Самобалансирующееся дерево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E994F-D570-4883-825E-36B05281D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8822C-956B-468C-8C69-A503D9CF8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5" y="1775834"/>
            <a:ext cx="4088543" cy="2996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FD22B7-41D8-49A7-B561-63F03C9E9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050" y="1738157"/>
            <a:ext cx="3738050" cy="325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99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9418-6BAD-4193-8B5B-040395AC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Префиксное дерево (бор, trie, от retrieval)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0616B-9ADE-455B-A98F-E52C56A22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Автодополнение и подсказки (Т9)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Проверка орфографии и словари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IP-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маршрутизация и сети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Поиск подстрок и биоинформатика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Базы данных и поисковые движки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….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09A7E-4CC3-4CDD-BD79-696955C6E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463" y="1675280"/>
            <a:ext cx="2505205" cy="319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96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DB1C-7AE0-4C39-8814-9FF5B76C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89D18-EDA9-4D30-92A7-7495A7039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E385A-F140-4D4A-922B-9C2306C6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935" y="1799329"/>
            <a:ext cx="6907355" cy="334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87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DB1C-7AE0-4C39-8814-9FF5B76C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Управляющие конструкции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89D18-EDA9-4D30-92A7-7495A7039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Управляющие конструкции — это конструкции языка, которые определяют порядок выполнения инструкций. Без них программа была бы линейной: одна команда за другой. С ними появляется логика: ветвление, повторение, выбор.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Их можно разделить на три группы: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Ветвление —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if, else, switch/case.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Циклы —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for, while, do-while, foreach.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Операторы прерывания и продолжения —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break, continue, return.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563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50FBD-6EC5-4280-99B4-C1871464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Ветвление (</a:t>
            </a:r>
            <a:r>
              <a:rPr lang="en-US" dirty="0"/>
              <a:t>if / else</a:t>
            </a:r>
            <a:r>
              <a:rPr lang="ru-RU" dirty="0"/>
              <a:t>)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AAEB76C-A1CC-4784-8426-289F1AE15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700659"/>
              </p:ext>
            </p:extLst>
          </p:nvPr>
        </p:nvGraphicFramePr>
        <p:xfrm>
          <a:off x="331939" y="1700530"/>
          <a:ext cx="7878871" cy="211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Pascal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if x &gt; 0: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print("</a:t>
                      </a:r>
                      <a:r>
                        <a:rPr lang="ru-RU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Положительное")</a:t>
                      </a:r>
                    </a:p>
                    <a:p>
                      <a:r>
                        <a:rPr lang="en-US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elif</a:t>
                      </a:r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x &lt; 0: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print("</a:t>
                      </a:r>
                      <a:r>
                        <a:rPr lang="ru-RU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Отрицательное")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else: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print("</a:t>
                      </a:r>
                      <a:r>
                        <a:rPr lang="ru-RU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Ноль")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if</a:t>
                      </a:r>
                      <a:r>
                        <a:rPr lang="en-US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x 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r>
                        <a:rPr lang="en-US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</a:t>
                      </a:r>
                      <a:r>
                        <a:rPr lang="en-US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then</a:t>
                      </a:r>
                      <a:r>
                        <a:rPr lang="en-US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</a:p>
                    <a:p>
                      <a:r>
                        <a:rPr lang="en-US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    </a:t>
                      </a:r>
                      <a:r>
                        <a:rPr lang="en-US" dirty="0" err="1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writeln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('</a:t>
                      </a:r>
                      <a:r>
                        <a:rPr lang="ru-RU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Положительное’)</a:t>
                      </a:r>
                      <a:r>
                        <a:rPr lang="ru-RU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else</a:t>
                      </a:r>
                      <a:r>
                        <a:rPr lang="en-US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if</a:t>
                      </a:r>
                      <a:r>
                        <a:rPr lang="en-US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x 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</a:t>
                      </a:r>
                      <a:r>
                        <a:rPr lang="en-US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</a:t>
                      </a:r>
                      <a:r>
                        <a:rPr lang="en-US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then</a:t>
                      </a: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</a:t>
                      </a:r>
                      <a:r>
                        <a:rPr lang="en-US" dirty="0" err="1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writeln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('</a:t>
                      </a:r>
                      <a:r>
                        <a:rPr lang="ru-RU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Отрицательное’)</a:t>
                      </a:r>
                      <a:endParaRPr lang="en-US" sz="1400" b="0" i="0" u="none" strike="noStrike" cap="none" spc="0" dirty="0">
                        <a:solidFill>
                          <a:schemeClr val="accent4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else</a:t>
                      </a:r>
                      <a:r>
                        <a:rPr lang="en-US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</a:p>
                    <a:p>
                      <a:r>
                        <a:rPr lang="en-US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    </a:t>
                      </a:r>
                      <a:r>
                        <a:rPr lang="en-US" dirty="0" err="1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writeln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('</a:t>
                      </a:r>
                      <a:r>
                        <a:rPr lang="ru-RU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Ноль');</a:t>
                      </a:r>
                      <a:endParaRPr lang="ru-RU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9668119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E3F994-EE78-4389-9D03-13326E4EF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407548"/>
              </p:ext>
            </p:extLst>
          </p:nvPr>
        </p:nvGraphicFramePr>
        <p:xfrm>
          <a:off x="331940" y="3401060"/>
          <a:ext cx="787887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Если x &gt; 0 Тогда 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US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</a:t>
                      </a:r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Сообщить("Положительное"); 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ИначеЕсли x &lt; 0 Тогда</a:t>
                      </a:r>
                      <a:r>
                        <a:rPr lang="en-US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</a:t>
                      </a:r>
                    </a:p>
                    <a:p>
                      <a:r>
                        <a:rPr lang="en-US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</a:t>
                      </a:r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Сообщить("Отрицательное"); 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Иначе 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US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</a:t>
                      </a:r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Сообщить("Ноль"); 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КонецЕсли;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if</a:t>
                      </a:r>
                      <a:r>
                        <a:rPr lang="en-US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en-US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x 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r>
                        <a:rPr lang="en-US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0)</a:t>
                      </a:r>
                      <a:r>
                        <a:rPr lang="en-US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System.</a:t>
                      </a:r>
                      <a:r>
                        <a:rPr lang="en-US" sz="120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out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.println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("</a:t>
                      </a:r>
                      <a:r>
                        <a:rPr lang="ru-RU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Положительное");</a:t>
                      </a:r>
                      <a:r>
                        <a:rPr lang="ru-RU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endParaRPr lang="en-US" sz="12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else</a:t>
                      </a:r>
                      <a:r>
                        <a:rPr lang="en-US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if</a:t>
                      </a:r>
                      <a:r>
                        <a:rPr lang="en-US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en-US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x 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</a:t>
                      </a:r>
                      <a:r>
                        <a:rPr lang="en-US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0) 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System.</a:t>
                      </a:r>
                      <a:r>
                        <a:rPr lang="en-US" sz="120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out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.println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("</a:t>
                      </a:r>
                      <a:r>
                        <a:rPr lang="ru-RU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Отрицательное");</a:t>
                      </a:r>
                      <a:r>
                        <a:rPr lang="ru-RU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endParaRPr lang="en-US" sz="1200" b="0" i="0" u="none" strike="noStrike" cap="none" spc="0" dirty="0">
                        <a:solidFill>
                          <a:schemeClr val="accent4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else</a:t>
                      </a:r>
                      <a:r>
                        <a:rPr lang="en-US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System.</a:t>
                      </a:r>
                      <a:r>
                        <a:rPr lang="en-US" sz="120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</a:rPr>
                        <a:t>out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.println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("</a:t>
                      </a:r>
                      <a:r>
                        <a:rPr lang="ru-RU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Ноль");</a:t>
                      </a:r>
                      <a:endParaRPr lang="ru-RU" sz="12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793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4043-7E9F-48A0-9E44-5E3963A9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Тернарный оператор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EB6B157-A4C0-4CE4-A339-92BF2426B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760769"/>
              </p:ext>
            </p:extLst>
          </p:nvPr>
        </p:nvGraphicFramePr>
        <p:xfrm>
          <a:off x="839244" y="2160740"/>
          <a:ext cx="7665929" cy="178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657">
                  <a:extLst>
                    <a:ext uri="{9D8B030D-6E8A-4147-A177-3AD203B41FA5}">
                      <a16:colId xmlns:a16="http://schemas.microsoft.com/office/drawing/2014/main" val="4186037554"/>
                    </a:ext>
                  </a:extLst>
                </a:gridCol>
                <a:gridCol w="6507272">
                  <a:extLst>
                    <a:ext uri="{9D8B030D-6E8A-4147-A177-3AD203B41FA5}">
                      <a16:colId xmlns:a16="http://schemas.microsoft.com/office/drawing/2014/main" val="4218912222"/>
                    </a:ext>
                  </a:extLst>
                </a:gridCol>
              </a:tblGrid>
              <a:tr h="300624">
                <a:tc>
                  <a:txBody>
                    <a:bodyPr/>
                    <a:lstStyle/>
                    <a:p>
                      <a:r>
                        <a:rPr lang="ru-RU" dirty="0"/>
                        <a:t>Язык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52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Python</a:t>
                      </a:r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status = "Совершеннолетний" if age &gt;= 18 else "Несовершеннолетний"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38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PascalABC</a:t>
                      </a:r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тернарного оператора нет, только if-else.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65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1C</a:t>
                      </a:r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Статус = ?(Возраст &gt;= 18, "Совершеннолетний", "Несовершеннолетний");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787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Java</a:t>
                      </a:r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String status = (age &gt;= 18) ? "Совершеннолетний" : "Несовершеннолетний";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55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923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84A3-C2FB-4182-8758-F34E63E64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/ case / match</a:t>
            </a:r>
            <a:endParaRPr lang="ru-RU" dirty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B8DB1E57-22A5-489E-8C12-C5E1AE267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967749"/>
              </p:ext>
            </p:extLst>
          </p:nvPr>
        </p:nvGraphicFramePr>
        <p:xfrm>
          <a:off x="331939" y="1506425"/>
          <a:ext cx="7878871" cy="200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Pascal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match day:</a:t>
                      </a:r>
                    </a:p>
                    <a:p>
                      <a:r>
                        <a:rPr 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case 1:</a:t>
                      </a:r>
                    </a:p>
                    <a:p>
                      <a:r>
                        <a:rPr 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print("</a:t>
                      </a:r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Понедельник")</a:t>
                      </a:r>
                    </a:p>
                    <a:p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</a:t>
                      </a:r>
                      <a:r>
                        <a:rPr 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case 2:</a:t>
                      </a:r>
                    </a:p>
                    <a:p>
                      <a:r>
                        <a:rPr 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print("</a:t>
                      </a:r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Вторник")</a:t>
                      </a:r>
                    </a:p>
                    <a:p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</a:t>
                      </a:r>
                      <a:r>
                        <a:rPr 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case _:</a:t>
                      </a:r>
                    </a:p>
                    <a:p>
                      <a:r>
                        <a:rPr 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print("</a:t>
                      </a:r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Другой день")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case day of</a:t>
                      </a:r>
                    </a:p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1: 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writeln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('</a:t>
                      </a:r>
                      <a:r>
                        <a:rPr lang="ru-RU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Понедельник');</a:t>
                      </a:r>
                    </a:p>
                    <a:p>
                      <a:r>
                        <a:rPr lang="ru-RU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2: 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writeln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('</a:t>
                      </a:r>
                      <a:r>
                        <a:rPr lang="ru-RU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Вторник');</a:t>
                      </a:r>
                    </a:p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else</a:t>
                      </a:r>
                    </a:p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writeln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('</a:t>
                      </a:r>
                      <a:r>
                        <a:rPr lang="ru-RU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Другой день');</a:t>
                      </a:r>
                    </a:p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end;</a:t>
                      </a:r>
                      <a:endParaRPr lang="ru-RU" sz="12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966811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3C60BA-4B7F-4F64-8F8C-FC9B8EDF4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981231"/>
              </p:ext>
            </p:extLst>
          </p:nvPr>
        </p:nvGraphicFramePr>
        <p:xfrm>
          <a:off x="331939" y="3157220"/>
          <a:ext cx="7878871" cy="198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аналога </a:t>
                      </a:r>
                      <a:r>
                        <a:rPr lang="en-US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switch </a:t>
                      </a:r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switch (day) {</a:t>
                      </a:r>
                    </a:p>
                    <a:p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case 1:</a:t>
                      </a:r>
                    </a:p>
                    <a:p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  </a:t>
                      </a:r>
                      <a:r>
                        <a:rPr lang="en-US" sz="10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System.out.println</a:t>
                      </a:r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("</a:t>
                      </a:r>
                      <a:r>
                        <a:rPr lang="ru-RU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Понедельник");</a:t>
                      </a:r>
                    </a:p>
                    <a:p>
                      <a:r>
                        <a:rPr lang="ru-RU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  </a:t>
                      </a:r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break;</a:t>
                      </a:r>
                    </a:p>
                    <a:p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case 2:</a:t>
                      </a:r>
                    </a:p>
                    <a:p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  </a:t>
                      </a:r>
                      <a:r>
                        <a:rPr lang="en-US" sz="10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System.out.println</a:t>
                      </a:r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("</a:t>
                      </a:r>
                      <a:r>
                        <a:rPr lang="ru-RU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Вторник");</a:t>
                      </a:r>
                    </a:p>
                    <a:p>
                      <a:r>
                        <a:rPr lang="ru-RU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  </a:t>
                      </a:r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break;</a:t>
                      </a:r>
                    </a:p>
                    <a:p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default:</a:t>
                      </a:r>
                    </a:p>
                    <a:p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  </a:t>
                      </a:r>
                      <a:r>
                        <a:rPr lang="en-US" sz="10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System.out.println</a:t>
                      </a:r>
                      <a:r>
                        <a:rPr lang="en-US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("</a:t>
                      </a:r>
                      <a:r>
                        <a:rPr lang="ru-RU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Другой день");</a:t>
                      </a:r>
                    </a:p>
                    <a:p>
                      <a:r>
                        <a:rPr lang="ru-RU" sz="10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}</a:t>
                      </a:r>
                      <a:endParaRPr lang="ru-RU" sz="10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162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F320B-DCB3-4DC7-A9E7-89783193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343487"/>
            <a:ext cx="8222100" cy="767700"/>
          </a:xfrm>
        </p:spPr>
        <p:txBody>
          <a:bodyPr/>
          <a:lstStyle/>
          <a:p>
            <a:r>
              <a:rPr lang="ru-RU" dirty="0"/>
              <a:t>Управляющие конструкции (сводка)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04CE5-F29B-4D83-AACF-2C27E5AB6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2F523D-0DD5-4571-954A-13005D899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638554"/>
              </p:ext>
            </p:extLst>
          </p:nvPr>
        </p:nvGraphicFramePr>
        <p:xfrm>
          <a:off x="1008346" y="1267749"/>
          <a:ext cx="6951945" cy="3787384"/>
        </p:xfrm>
        <a:graphic>
          <a:graphicData uri="http://schemas.openxmlformats.org/drawingml/2006/table">
            <a:tbl>
              <a:tblPr/>
              <a:tblGrid>
                <a:gridCol w="1881681">
                  <a:extLst>
                    <a:ext uri="{9D8B030D-6E8A-4147-A177-3AD203B41FA5}">
                      <a16:colId xmlns:a16="http://schemas.microsoft.com/office/drawing/2014/main" val="3084992111"/>
                    </a:ext>
                  </a:extLst>
                </a:gridCol>
                <a:gridCol w="1267566">
                  <a:extLst>
                    <a:ext uri="{9D8B030D-6E8A-4147-A177-3AD203B41FA5}">
                      <a16:colId xmlns:a16="http://schemas.microsoft.com/office/drawing/2014/main" val="1050697458"/>
                    </a:ext>
                  </a:extLst>
                </a:gridCol>
                <a:gridCol w="1267566">
                  <a:extLst>
                    <a:ext uri="{9D8B030D-6E8A-4147-A177-3AD203B41FA5}">
                      <a16:colId xmlns:a16="http://schemas.microsoft.com/office/drawing/2014/main" val="2714651318"/>
                    </a:ext>
                  </a:extLst>
                </a:gridCol>
                <a:gridCol w="1267566">
                  <a:extLst>
                    <a:ext uri="{9D8B030D-6E8A-4147-A177-3AD203B41FA5}">
                      <a16:colId xmlns:a16="http://schemas.microsoft.com/office/drawing/2014/main" val="3521741939"/>
                    </a:ext>
                  </a:extLst>
                </a:gridCol>
                <a:gridCol w="1267566">
                  <a:extLst>
                    <a:ext uri="{9D8B030D-6E8A-4147-A177-3AD203B41FA5}">
                      <a16:colId xmlns:a16="http://schemas.microsoft.com/office/drawing/2014/main" val="4219046049"/>
                    </a:ext>
                  </a:extLst>
                </a:gridCol>
              </a:tblGrid>
              <a:tr h="249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Конструкция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Python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Java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Pascal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1С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48754"/>
                  </a:ext>
                </a:extLst>
              </a:tr>
              <a:tr h="249700"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Условие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if x &gt; 0: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if (x &gt; 0) {}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if x &gt; 0 then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Если </a:t>
                      </a: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x &gt; 0 </a:t>
                      </a:r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Тогда</a:t>
                      </a:r>
                    </a:p>
                  </a:txBody>
                  <a:tcPr marL="63020" marR="47265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131994"/>
                  </a:ext>
                </a:extLst>
              </a:tr>
              <a:tr h="249700"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Иначе если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elif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else if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else if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ИначеЕсли</a:t>
                      </a:r>
                    </a:p>
                  </a:txBody>
                  <a:tcPr marL="63020" marR="47265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552271"/>
                  </a:ext>
                </a:extLst>
              </a:tr>
              <a:tr h="249700"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Тернарный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 if c else b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 ? a : b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нет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?(c, a, b)</a:t>
                      </a:r>
                    </a:p>
                  </a:txBody>
                  <a:tcPr marL="63020" marR="47265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325996"/>
                  </a:ext>
                </a:extLst>
              </a:tr>
              <a:tr h="377814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Множественный выбор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match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switch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case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нет</a:t>
                      </a:r>
                    </a:p>
                  </a:txBody>
                  <a:tcPr marL="63020" marR="47265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7235"/>
                  </a:ext>
                </a:extLst>
              </a:tr>
              <a:tr h="377814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Цикл с счётчиком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for i in range()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for (int i=0; ...)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for i := ... to ...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Для </a:t>
                      </a: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i = ... </a:t>
                      </a:r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По ...</a:t>
                      </a:r>
                    </a:p>
                  </a:txBody>
                  <a:tcPr marL="63020" marR="47265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626503"/>
                  </a:ext>
                </a:extLst>
              </a:tr>
              <a:tr h="377814"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Цикл с условием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while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while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while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Пока</a:t>
                      </a:r>
                    </a:p>
                  </a:txBody>
                  <a:tcPr marL="63020" marR="47265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902182"/>
                  </a:ext>
                </a:extLst>
              </a:tr>
              <a:tr h="249700"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Постусловие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нет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do-while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repeat-until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нет</a:t>
                      </a:r>
                    </a:p>
                  </a:txBody>
                  <a:tcPr marL="63020" marR="47265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248259"/>
                  </a:ext>
                </a:extLst>
              </a:tr>
              <a:tr h="249700"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По коллекции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for item in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for (item : coll)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for item in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Для Каждого</a:t>
                      </a:r>
                    </a:p>
                  </a:txBody>
                  <a:tcPr marL="63020" marR="47265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40359"/>
                  </a:ext>
                </a:extLst>
              </a:tr>
              <a:tr h="249700"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Прервать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break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break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break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Прервать</a:t>
                      </a:r>
                    </a:p>
                  </a:txBody>
                  <a:tcPr marL="63020" marR="47265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769400"/>
                  </a:ext>
                </a:extLst>
              </a:tr>
              <a:tr h="249700"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Продолжить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continue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continue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continue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Продолжить</a:t>
                      </a:r>
                    </a:p>
                  </a:txBody>
                  <a:tcPr marL="63020" marR="47265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229203"/>
                  </a:ext>
                </a:extLst>
              </a:tr>
              <a:tr h="377814"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Выход из метода</a:t>
                      </a:r>
                    </a:p>
                  </a:txBody>
                  <a:tcPr marL="47265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return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return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exit</a:t>
                      </a:r>
                    </a:p>
                  </a:txBody>
                  <a:tcPr marL="63020" marR="63020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Возврат</a:t>
                      </a:r>
                    </a:p>
                  </a:txBody>
                  <a:tcPr marL="63020" marR="47265" marT="39388" marB="393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79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804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CB8F9-7743-4F92-9488-BC675036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ru-RU" dirty="0"/>
              <a:t>с счётчиком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690C4CB8-511D-4861-8FF9-B26E53F59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311161"/>
              </p:ext>
            </p:extLst>
          </p:nvPr>
        </p:nvGraphicFramePr>
        <p:xfrm>
          <a:off x="519830" y="2035949"/>
          <a:ext cx="7878871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Pascal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for </a:t>
                      </a:r>
                      <a:r>
                        <a:rPr lang="en-US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</a:t>
                      </a:r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in range(1, 6):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print(</a:t>
                      </a:r>
                      <a:r>
                        <a:rPr lang="en-US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</a:t>
                      </a:r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 i := 1 to 5 do</a:t>
                      </a:r>
                    </a:p>
                    <a:p>
                      <a:r>
                        <a:rPr lang="pl-PL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writeln(i);</a:t>
                      </a:r>
                      <a:endParaRPr lang="ru-RU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966811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8C45D6-5B7E-4E20-BE24-2EBA2F5E1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645374"/>
              </p:ext>
            </p:extLst>
          </p:nvPr>
        </p:nvGraphicFramePr>
        <p:xfrm>
          <a:off x="519830" y="2862441"/>
          <a:ext cx="787887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Для i = 1 По 5 Цикл</a:t>
                      </a:r>
                    </a:p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Сообщить(i);</a:t>
                      </a:r>
                    </a:p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КонецЦикла;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n-NO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 (int i = 1; i &lt;= 5; i++) {</a:t>
                      </a:r>
                    </a:p>
                    <a:p>
                      <a:r>
                        <a:rPr lang="nn-NO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System.out.println(i);</a:t>
                      </a:r>
                    </a:p>
                    <a:p>
                      <a:r>
                        <a:rPr lang="nn-NO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}</a:t>
                      </a:r>
                      <a:endParaRPr lang="ru-RU" sz="12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099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D2D2-FE78-462F-8B5F-6A97DBDE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  <a:endParaRPr lang="ru-RU" dirty="0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6AB6D4C3-6239-40D5-99B8-0976E40C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190397"/>
              </p:ext>
            </p:extLst>
          </p:nvPr>
        </p:nvGraphicFramePr>
        <p:xfrm>
          <a:off x="519830" y="2035949"/>
          <a:ext cx="7878871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Pascal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while x &lt; 10: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x += 1</a:t>
                      </a:r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while x &lt; 10 do</a:t>
                      </a: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x := x + 1;</a:t>
                      </a:r>
                      <a:endParaRPr lang="ru-RU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9668119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66BA4A-18DE-44F6-B072-820F13876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941856"/>
              </p:ext>
            </p:extLst>
          </p:nvPr>
        </p:nvGraphicFramePr>
        <p:xfrm>
          <a:off x="519830" y="2862441"/>
          <a:ext cx="787887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Пока x &lt; 10 Цикл</a:t>
                      </a:r>
                    </a:p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x = x + 1;</a:t>
                      </a:r>
                    </a:p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КонецЦикла;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n-NO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while (x &lt; 10) {</a:t>
                      </a:r>
                    </a:p>
                    <a:p>
                      <a:r>
                        <a:rPr lang="nn-NO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x++;</a:t>
                      </a:r>
                    </a:p>
                    <a:p>
                      <a:r>
                        <a:rPr lang="nn-NO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}</a:t>
                      </a:r>
                      <a:endParaRPr lang="ru-RU" sz="12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562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29E9-CBC3-40B8-AA5C-E487D4922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do-while / repeat-until</a:t>
            </a:r>
            <a:endParaRPr lang="ru-RU" dirty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C3128C4E-B798-43A9-9854-5E1D27ECA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931944"/>
              </p:ext>
            </p:extLst>
          </p:nvPr>
        </p:nvGraphicFramePr>
        <p:xfrm>
          <a:off x="519830" y="2035949"/>
          <a:ext cx="7878871" cy="140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Pascal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нет </a:t>
                      </a:r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do-while</a:t>
                      </a:r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repeat</a:t>
                      </a: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x := x + 1;</a:t>
                      </a: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until x &gt;= 10;</a:t>
                      </a:r>
                      <a:endParaRPr lang="ru-RU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966811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162EC4-53D6-4499-951F-B46644640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86862"/>
              </p:ext>
            </p:extLst>
          </p:nvPr>
        </p:nvGraphicFramePr>
        <p:xfrm>
          <a:off x="519829" y="3069121"/>
          <a:ext cx="787887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нет </a:t>
                      </a:r>
                      <a:r>
                        <a:rPr lang="en-US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do-while</a:t>
                      </a:r>
                      <a:endParaRPr lang="ru-RU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do {</a:t>
                      </a:r>
                    </a:p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x++;</a:t>
                      </a:r>
                    </a:p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} while (x &lt; 10);</a:t>
                      </a:r>
                      <a:endParaRPr lang="ru-RU" sz="12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625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3CD6-4D94-4A1D-950B-5059D8627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foreach (</a:t>
            </a:r>
            <a:r>
              <a:rPr lang="ru-RU" dirty="0"/>
              <a:t>цикл по коллекции)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BB908-9269-4879-BAC2-E67D7307D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77E3CAF1-05F3-4ED4-8227-EFB924E4B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972726"/>
              </p:ext>
            </p:extLst>
          </p:nvPr>
        </p:nvGraphicFramePr>
        <p:xfrm>
          <a:off x="519830" y="2035949"/>
          <a:ext cx="7878871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Pascal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for item in items: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print(item)</a:t>
                      </a:r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 item in items do</a:t>
                      </a: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</a:t>
                      </a:r>
                      <a:r>
                        <a:rPr lang="en-US" sz="14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writeln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(item);</a:t>
                      </a:r>
                      <a:endParaRPr lang="ru-RU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966811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6E971C-6575-4E85-AE5F-25935C4DD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183182"/>
              </p:ext>
            </p:extLst>
          </p:nvPr>
        </p:nvGraphicFramePr>
        <p:xfrm>
          <a:off x="519830" y="2841163"/>
          <a:ext cx="787887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Для Каждого item Из items Цикл</a:t>
                      </a:r>
                    </a:p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Сообщить(item);</a:t>
                      </a:r>
                    </a:p>
                    <a:p>
                      <a:r>
                        <a:rPr lang="ru-RU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КонецЦикла;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 (String item : items) {</a:t>
                      </a:r>
                    </a:p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System.out.println</a:t>
                      </a:r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(item);</a:t>
                      </a:r>
                    </a:p>
                    <a:p>
                      <a:r>
                        <a:rPr lang="en-US" sz="12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}</a:t>
                      </a:r>
                      <a:endParaRPr lang="ru-RU" sz="12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1530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60DE-B3CF-41F6-A4F8-E195F5944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прерывания и продолжения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CB44BBA8-42AF-41B9-8257-75B95599C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47358"/>
              </p:ext>
            </p:extLst>
          </p:nvPr>
        </p:nvGraphicFramePr>
        <p:xfrm>
          <a:off x="331939" y="1506425"/>
          <a:ext cx="7878871" cy="205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Pascal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for 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in range(1, 10):</a:t>
                      </a:r>
                    </a:p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if 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== 5:</a:t>
                      </a:r>
                    </a:p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</a:t>
                      </a:r>
                      <a:r>
                        <a:rPr lang="en-US" sz="14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break</a:t>
                      </a:r>
                    </a:p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print(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ru-RU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 </a:t>
                      </a:r>
                      <a:r>
                        <a:rPr lang="en-US" sz="16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:= 1 to 9 do</a:t>
                      </a:r>
                    </a:p>
                    <a:p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begin</a:t>
                      </a:r>
                    </a:p>
                    <a:p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if </a:t>
                      </a:r>
                      <a:r>
                        <a:rPr lang="en-US" sz="16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= 5 then </a:t>
                      </a:r>
                      <a:r>
                        <a:rPr lang="en-US" sz="1600" b="1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break</a:t>
                      </a:r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;</a:t>
                      </a:r>
                    </a:p>
                    <a:p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</a:t>
                      </a:r>
                      <a:r>
                        <a:rPr lang="en-US" sz="16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writeln</a:t>
                      </a:r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en-US" sz="16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);</a:t>
                      </a:r>
                    </a:p>
                    <a:p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end;</a:t>
                      </a:r>
                      <a:endParaRPr lang="ru-RU" sz="16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966811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EA3AA8-27A8-44F2-BE45-BDC1625B7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856592"/>
              </p:ext>
            </p:extLst>
          </p:nvPr>
        </p:nvGraphicFramePr>
        <p:xfrm>
          <a:off x="331939" y="3157220"/>
          <a:ext cx="787887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Для i = 1 По 9 Цикл</a:t>
                      </a:r>
                    </a:p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Если i = 5 Тогда</a:t>
                      </a:r>
                    </a:p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</a:t>
                      </a:r>
                      <a:r>
                        <a:rPr lang="ru-RU" sz="14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Прервать</a:t>
                      </a:r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;</a:t>
                      </a:r>
                    </a:p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КонецЕсли;</a:t>
                      </a:r>
                    </a:p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Сообщить(i);</a:t>
                      </a:r>
                    </a:p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КонецЦикла;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n-NO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 (int i = 1; i &lt; 10; i++) {</a:t>
                      </a:r>
                    </a:p>
                    <a:p>
                      <a:r>
                        <a:rPr lang="nn-NO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if (i == 5) </a:t>
                      </a:r>
                      <a:r>
                        <a:rPr lang="nn-NO" sz="1400" b="1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break</a:t>
                      </a:r>
                      <a:r>
                        <a:rPr lang="nn-NO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;</a:t>
                      </a:r>
                    </a:p>
                    <a:p>
                      <a:r>
                        <a:rPr lang="nn-NO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System.out.println(i);</a:t>
                      </a:r>
                    </a:p>
                    <a:p>
                      <a:r>
                        <a:rPr lang="nn-NO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}</a:t>
                      </a:r>
                      <a:endParaRPr lang="ru-RU" sz="14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427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24FAA-F1F9-48FD-87FC-9C06DA0B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continue — перейти к следующей итерации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BDD7CFB7-6409-4B37-8F50-C20B6782F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659177"/>
              </p:ext>
            </p:extLst>
          </p:nvPr>
        </p:nvGraphicFramePr>
        <p:xfrm>
          <a:off x="569934" y="1669264"/>
          <a:ext cx="7878871" cy="205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Pascal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for 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in range(1, 10):</a:t>
                      </a:r>
                    </a:p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if 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% 2 == 0:</a:t>
                      </a:r>
                    </a:p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</a:t>
                      </a:r>
                      <a:r>
                        <a:rPr lang="en-US" sz="14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continue</a:t>
                      </a:r>
                    </a:p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print(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  # 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только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нечётные</a:t>
                      </a:r>
                      <a:endParaRPr lang="ru-RU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 </a:t>
                      </a:r>
                      <a:r>
                        <a:rPr lang="en-US" sz="16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:= 1 to 10 do</a:t>
                      </a:r>
                    </a:p>
                    <a:p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begin</a:t>
                      </a:r>
                    </a:p>
                    <a:p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if </a:t>
                      </a:r>
                      <a:r>
                        <a:rPr lang="en-US" sz="16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% 2 = 0 then </a:t>
                      </a:r>
                      <a:r>
                        <a:rPr lang="ru-RU" sz="16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С</a:t>
                      </a:r>
                      <a:r>
                        <a:rPr lang="en-US" sz="1600" b="1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ontinue</a:t>
                      </a:r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;</a:t>
                      </a:r>
                    </a:p>
                    <a:p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</a:t>
                      </a:r>
                      <a:r>
                        <a:rPr lang="en-US" sz="16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writeln</a:t>
                      </a:r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en-US" sz="16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);</a:t>
                      </a:r>
                    </a:p>
                    <a:p>
                      <a:r>
                        <a:rPr lang="en-US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end;</a:t>
                      </a:r>
                      <a:endParaRPr lang="ru-RU" sz="16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966811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331BE3-9594-4FDF-B11E-15131310C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672616"/>
              </p:ext>
            </p:extLst>
          </p:nvPr>
        </p:nvGraphicFramePr>
        <p:xfrm>
          <a:off x="569934" y="3320059"/>
          <a:ext cx="787887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Для i = 1 По 9 Цикл</a:t>
                      </a:r>
                    </a:p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Если i % 2 = 0 Тогда</a:t>
                      </a:r>
                    </a:p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</a:t>
                      </a:r>
                      <a:r>
                        <a:rPr lang="ru-RU" sz="14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Продолжить</a:t>
                      </a:r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;</a:t>
                      </a:r>
                    </a:p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КонецЕсли;</a:t>
                      </a:r>
                    </a:p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Сообщить(i);</a:t>
                      </a:r>
                    </a:p>
                    <a:p>
                      <a:r>
                        <a:rPr lang="ru-RU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КонецЦикла;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n-NO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 (int i = 1; i &lt; 10; i++) {</a:t>
                      </a:r>
                    </a:p>
                    <a:p>
                      <a:r>
                        <a:rPr lang="nn-NO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if (i % 2 == 0) </a:t>
                      </a:r>
                      <a:r>
                        <a:rPr lang="nn-NO" sz="1400" b="1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continue</a:t>
                      </a:r>
                      <a:r>
                        <a:rPr lang="nn-NO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;</a:t>
                      </a:r>
                    </a:p>
                    <a:p>
                      <a:r>
                        <a:rPr lang="nn-NO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System.out.println(i);</a:t>
                      </a:r>
                    </a:p>
                    <a:p>
                      <a:r>
                        <a:rPr lang="nn-NO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}</a:t>
                      </a:r>
                      <a:endParaRPr lang="ru-RU" sz="14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163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4F26-246C-4238-9869-EF7A0280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— </a:t>
            </a:r>
            <a:r>
              <a:rPr lang="ru-RU" dirty="0"/>
              <a:t>выйти из метода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0B49FE84-F38D-4297-9402-7CCBAB19C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438517"/>
              </p:ext>
            </p:extLst>
          </p:nvPr>
        </p:nvGraphicFramePr>
        <p:xfrm>
          <a:off x="569934" y="1669264"/>
          <a:ext cx="7878871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Pascal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def find(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arr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 target):</a:t>
                      </a:r>
                    </a:p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for 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 value in enumerate(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arr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):</a:t>
                      </a:r>
                    </a:p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if value == target:</a:t>
                      </a:r>
                    </a:p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    return 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return -1</a:t>
                      </a:r>
                      <a:endParaRPr lang="ru-RU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Следующий слайд</a:t>
                      </a:r>
                      <a:endParaRPr lang="ru-RU" sz="16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966811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7DD3B6-B7C9-4ACB-B256-0C5FCE1D0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559257"/>
              </p:ext>
            </p:extLst>
          </p:nvPr>
        </p:nvGraphicFramePr>
        <p:xfrm>
          <a:off x="569934" y="3320059"/>
          <a:ext cx="7878871" cy="180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630">
                  <a:extLst>
                    <a:ext uri="{9D8B030D-6E8A-4147-A177-3AD203B41FA5}">
                      <a16:colId xmlns:a16="http://schemas.microsoft.com/office/drawing/2014/main" val="3180995103"/>
                    </a:ext>
                  </a:extLst>
                </a:gridCol>
                <a:gridCol w="3802241">
                  <a:extLst>
                    <a:ext uri="{9D8B030D-6E8A-4147-A177-3AD203B41FA5}">
                      <a16:colId xmlns:a16="http://schemas.microsoft.com/office/drawing/2014/main" val="267392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15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Функция Найти(Массив, Цель)</a:t>
                      </a:r>
                    </a:p>
                    <a:p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Для i = 0 По Массив.Количество() - 1 Цикл</a:t>
                      </a:r>
                    </a:p>
                    <a:p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Если Массив[i] = Цель Тогда</a:t>
                      </a:r>
                    </a:p>
                    <a:p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    Возврат i;</a:t>
                      </a:r>
                    </a:p>
                    <a:p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    КонецЕсли;</a:t>
                      </a:r>
                    </a:p>
                    <a:p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КонецЦикла;</a:t>
                      </a:r>
                    </a:p>
                    <a:p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   Возврат -1;</a:t>
                      </a:r>
                    </a:p>
                    <a:p>
                      <a:r>
                        <a:rPr lang="ru-RU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КонецФункции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public int find(int[] </a:t>
                      </a:r>
                      <a:r>
                        <a:rPr lang="en-US" sz="14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arr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int target) {</a:t>
                      </a: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for (int </a:t>
                      </a:r>
                      <a:r>
                        <a:rPr lang="en-US" sz="14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= 0; </a:t>
                      </a:r>
                      <a:r>
                        <a:rPr lang="en-US" sz="14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&lt; </a:t>
                      </a:r>
                      <a:r>
                        <a:rPr lang="en-US" sz="14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arr.length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; </a:t>
                      </a:r>
                      <a:r>
                        <a:rPr lang="en-US" sz="14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++) {</a:t>
                      </a: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  if (</a:t>
                      </a:r>
                      <a:r>
                        <a:rPr lang="en-US" sz="14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arr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[</a:t>
                      </a:r>
                      <a:r>
                        <a:rPr lang="en-US" sz="14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] == target) return </a:t>
                      </a:r>
                      <a:r>
                        <a:rPr lang="en-US" sz="1400" b="0" i="0" u="none" strike="noStrike" cap="none" spc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;</a:t>
                      </a: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}</a:t>
                      </a: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 return -1;</a:t>
                      </a:r>
                    </a:p>
                    <a:p>
                      <a:r>
                        <a:rPr lang="en-US" sz="1400" b="0" i="0" u="none" strike="noStrike" cap="none" spc="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}</a:t>
                      </a:r>
                      <a:endParaRPr lang="ru-RU" sz="1400" dirty="0">
                        <a:solidFill>
                          <a:schemeClr val="accent4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1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302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6C60C-8B8F-4929-A15C-62D5A1A3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8D30E-ED14-407E-9771-A42EB4673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3DF32-13E2-4BAE-B801-B571314B1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27" y="1506425"/>
            <a:ext cx="4944165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232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CF5F-8813-40D3-B429-E9154C77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Метки в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4CEB4-41E8-4C72-B96E-F15C12E40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Java позволяет помечать циклы и использовать break/continue с меткой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В Python, 1С, Pascal меток для break нет.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1EF49-762C-45F9-AF6A-F2787AEE4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35" y="2703145"/>
            <a:ext cx="4229690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77643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1855</Words>
  <Application>Microsoft Office PowerPoint</Application>
  <PresentationFormat>On-screen Show (16:9)</PresentationFormat>
  <Paragraphs>436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Roboto</vt:lpstr>
      <vt:lpstr>Arial</vt:lpstr>
      <vt:lpstr>Material</vt:lpstr>
      <vt:lpstr>Типы данных, структуры данных, управляющие конструкции</vt:lpstr>
      <vt:lpstr>Актуализация </vt:lpstr>
      <vt:lpstr>Типы и структуры данных, управляющие конструкции. Различия</vt:lpstr>
      <vt:lpstr>Структуры и типы данных, управляющие конструкции. Различия</vt:lpstr>
      <vt:lpstr>Типы данных</vt:lpstr>
      <vt:lpstr>Примитивы в PascalABC, Python, 1C, Java</vt:lpstr>
      <vt:lpstr>Примитивы в PascalABC, Python, 1C, Java</vt:lpstr>
      <vt:lpstr>В Python нету примитивов </vt:lpstr>
      <vt:lpstr>В Python нету примитивов </vt:lpstr>
      <vt:lpstr>Структуры данных</vt:lpstr>
      <vt:lpstr>Типы структур данных</vt:lpstr>
      <vt:lpstr> Основные структуры данных (сводка)</vt:lpstr>
      <vt:lpstr>Линейные</vt:lpstr>
      <vt:lpstr>Нелинейные</vt:lpstr>
      <vt:lpstr>Ассоциативные</vt:lpstr>
      <vt:lpstr>Stack</vt:lpstr>
      <vt:lpstr>Deque (Double-ended-Queue)</vt:lpstr>
      <vt:lpstr>PowerPoint Presentation</vt:lpstr>
      <vt:lpstr>PowerPoint Presentation</vt:lpstr>
      <vt:lpstr>Самобалансирующееся дерево</vt:lpstr>
      <vt:lpstr>Префиксное дерево (бор, trie, от retrieval)</vt:lpstr>
      <vt:lpstr>Массив</vt:lpstr>
      <vt:lpstr>Управляющие конструкции</vt:lpstr>
      <vt:lpstr>Ветвление (if / else)</vt:lpstr>
      <vt:lpstr>Тернарный оператор</vt:lpstr>
      <vt:lpstr>switch / case / match</vt:lpstr>
      <vt:lpstr>Управляющие конструкции (сводка)</vt:lpstr>
      <vt:lpstr>for с счётчиком</vt:lpstr>
      <vt:lpstr>while</vt:lpstr>
      <vt:lpstr>do-while / repeat-until</vt:lpstr>
      <vt:lpstr>foreach (цикл по коллекции)</vt:lpstr>
      <vt:lpstr>Операторы прерывания и продолжения</vt:lpstr>
      <vt:lpstr>continue — перейти к следующей итерации</vt:lpstr>
      <vt:lpstr>return — выйти из метода</vt:lpstr>
      <vt:lpstr>PowerPoint Presentation</vt:lpstr>
      <vt:lpstr>Метки в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Типы данных</dc:title>
  <cp:lastModifiedBy>Vadim Gabderakhmanov</cp:lastModifiedBy>
  <cp:revision>86</cp:revision>
  <dcterms:modified xsi:type="dcterms:W3CDTF">2026-09-23T21:02:49Z</dcterms:modified>
</cp:coreProperties>
</file>